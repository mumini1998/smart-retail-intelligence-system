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25"/>
  </p:notesMasterIdLst>
  <p:sldIdLst>
    <p:sldId id="256" r:id="rId2"/>
    <p:sldId id="280" r:id="rId3"/>
    <p:sldId id="281" r:id="rId4"/>
    <p:sldId id="257" r:id="rId5"/>
    <p:sldId id="258" r:id="rId6"/>
    <p:sldId id="259" r:id="rId7"/>
    <p:sldId id="274" r:id="rId8"/>
    <p:sldId id="260" r:id="rId9"/>
    <p:sldId id="261" r:id="rId10"/>
    <p:sldId id="262" r:id="rId11"/>
    <p:sldId id="275" r:id="rId12"/>
    <p:sldId id="263" r:id="rId13"/>
    <p:sldId id="265" r:id="rId14"/>
    <p:sldId id="273" r:id="rId15"/>
    <p:sldId id="266" r:id="rId16"/>
    <p:sldId id="267" r:id="rId17"/>
    <p:sldId id="268" r:id="rId18"/>
    <p:sldId id="276" r:id="rId19"/>
    <p:sldId id="269" r:id="rId20"/>
    <p:sldId id="272" r:id="rId21"/>
    <p:sldId id="270" r:id="rId22"/>
    <p:sldId id="271"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3390" autoAdjust="0"/>
  </p:normalViewPr>
  <p:slideViewPr>
    <p:cSldViewPr snapToGrid="0">
      <p:cViewPr varScale="1">
        <p:scale>
          <a:sx n="64" d="100"/>
          <a:sy n="64" d="100"/>
        </p:scale>
        <p:origin x="765" y="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CAEA2D-C449-461B-A834-B4FB35740E2A}" type="datetimeFigureOut">
              <a:rPr lang="en-US" smtClean="0"/>
              <a:t>5/1/2026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C81DFB-53BC-4B6D-B4E6-570E0BE158A3}" type="slidenum">
              <a:rPr lang="en-US" smtClean="0"/>
              <a:t>‹#›</a:t>
            </a:fld>
            <a:endParaRPr lang="en-US"/>
          </a:p>
        </p:txBody>
      </p:sp>
    </p:spTree>
    <p:extLst>
      <p:ext uri="{BB962C8B-B14F-4D97-AF65-F5344CB8AC3E}">
        <p14:creationId xmlns:p14="http://schemas.microsoft.com/office/powerpoint/2010/main" val="795448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FAE1C46-25CF-4371-891A-8D02330F4CFF}"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3304628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3FAE1C46-25CF-4371-891A-8D02330F4CFF}"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2575021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AE1C46-25CF-4371-891A-8D02330F4CFF}"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282300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FAE1C46-25CF-4371-891A-8D02330F4CFF}"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3978453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AE1C46-25CF-4371-891A-8D02330F4CFF}" type="datetimeFigureOut">
              <a:rPr lang="en-US" smtClean="0"/>
              <a:t>5/1/2026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584285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3FAE1C46-25CF-4371-891A-8D02330F4CFF}" type="datetimeFigureOut">
              <a:rPr lang="en-US" smtClean="0"/>
              <a:t>5/1/2026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2100808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FAE1C46-25CF-4371-891A-8D02330F4CFF}" type="datetimeFigureOut">
              <a:rPr lang="en-US" smtClean="0"/>
              <a:t>5/1/2026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1549609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3FAE1C46-25CF-4371-891A-8D02330F4CFF}" type="datetimeFigureOut">
              <a:rPr lang="en-US" smtClean="0"/>
              <a:t>5/1/2026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1766235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AE1C46-25CF-4371-891A-8D02330F4CFF}"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144074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AE1C46-25CF-4371-891A-8D02330F4CFF}"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67373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FAE1C46-25CF-4371-891A-8D02330F4CFF}"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3266584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FAE1C46-25CF-4371-891A-8D02330F4CFF}"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4EA73D-CE97-44E5-89D5-BD445A220DE9}"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274568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AE1C46-25CF-4371-891A-8D02330F4CFF}"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37670549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FAE1C46-25CF-4371-891A-8D02330F4CFF}" type="datetimeFigureOut">
              <a:rPr lang="en-US" smtClean="0"/>
              <a:t>5/1/2026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10028724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FAE1C46-25CF-4371-891A-8D02330F4CFF}" type="datetimeFigureOut">
              <a:rPr lang="en-US" smtClean="0"/>
              <a:t>5/1/2026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19202125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AE1C46-25CF-4371-891A-8D02330F4CFF}"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943869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AE1C46-25CF-4371-891A-8D02330F4CFF}"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4EA73D-CE97-44E5-89D5-BD445A220DE9}" type="slidenum">
              <a:rPr lang="en-US" smtClean="0"/>
              <a:t>‹#›</a:t>
            </a:fld>
            <a:endParaRPr lang="en-US"/>
          </a:p>
        </p:txBody>
      </p:sp>
    </p:spTree>
    <p:extLst>
      <p:ext uri="{BB962C8B-B14F-4D97-AF65-F5344CB8AC3E}">
        <p14:creationId xmlns:p14="http://schemas.microsoft.com/office/powerpoint/2010/main" val="283523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FAE1C46-25CF-4371-891A-8D02330F4CFF}" type="datetimeFigureOut">
              <a:rPr lang="en-US" smtClean="0"/>
              <a:t>5/1/2026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84EA73D-CE97-44E5-89D5-BD445A220DE9}" type="slidenum">
              <a:rPr lang="en-US" smtClean="0"/>
              <a:t>‹#›</a:t>
            </a:fld>
            <a:endParaRPr lang="en-US"/>
          </a:p>
        </p:txBody>
      </p:sp>
    </p:spTree>
    <p:extLst>
      <p:ext uri="{BB962C8B-B14F-4D97-AF65-F5344CB8AC3E}">
        <p14:creationId xmlns:p14="http://schemas.microsoft.com/office/powerpoint/2010/main" val="2737806049"/>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3BB5-89FD-C74B-8147-8CAEB6ABB356}"/>
              </a:ext>
            </a:extLst>
          </p:cNvPr>
          <p:cNvSpPr>
            <a:spLocks noGrp="1"/>
          </p:cNvSpPr>
          <p:nvPr>
            <p:ph type="ctrTitle"/>
          </p:nvPr>
        </p:nvSpPr>
        <p:spPr>
          <a:xfrm>
            <a:off x="798906" y="355375"/>
            <a:ext cx="7430695" cy="3329581"/>
          </a:xfrm>
        </p:spPr>
        <p:txBody>
          <a:bodyPr>
            <a:normAutofit fontScale="90000"/>
          </a:bodyPr>
          <a:lstStyle/>
          <a:p>
            <a:r>
              <a:rPr lang="en-US" sz="4800" b="1" dirty="0"/>
              <a:t>Store Sales Smart Retail Intelligence System</a:t>
            </a:r>
            <a:br>
              <a:rPr lang="en-US" sz="4800" dirty="0"/>
            </a:br>
            <a:r>
              <a:rPr lang="en-US" sz="4800" dirty="0"/>
              <a:t>Inventory &amp; Sales Analytics Project</a:t>
            </a:r>
            <a:br>
              <a:rPr lang="en-US" sz="4800" dirty="0"/>
            </a:br>
            <a:endParaRPr lang="en-US" sz="4800" dirty="0"/>
          </a:p>
        </p:txBody>
      </p:sp>
      <p:sp>
        <p:nvSpPr>
          <p:cNvPr id="3" name="Subtitle 2">
            <a:extLst>
              <a:ext uri="{FF2B5EF4-FFF2-40B4-BE49-F238E27FC236}">
                <a16:creationId xmlns:a16="http://schemas.microsoft.com/office/drawing/2014/main" id="{B13F187F-110C-C7E1-4EDE-A4DC2393AD46}"/>
              </a:ext>
            </a:extLst>
          </p:cNvPr>
          <p:cNvSpPr>
            <a:spLocks noGrp="1"/>
          </p:cNvSpPr>
          <p:nvPr>
            <p:ph type="subTitle" idx="1"/>
          </p:nvPr>
        </p:nvSpPr>
        <p:spPr>
          <a:xfrm>
            <a:off x="1154955" y="4777379"/>
            <a:ext cx="8825658" cy="1380659"/>
          </a:xfrm>
        </p:spPr>
        <p:txBody>
          <a:bodyPr>
            <a:normAutofit/>
          </a:bodyPr>
          <a:lstStyle/>
          <a:p>
            <a:r>
              <a:rPr lang="en-US" dirty="0">
                <a:solidFill>
                  <a:schemeClr val="tx1"/>
                </a:solidFill>
              </a:rPr>
              <a:t>by:</a:t>
            </a:r>
          </a:p>
          <a:p>
            <a:r>
              <a:rPr lang="en-US" dirty="0">
                <a:solidFill>
                  <a:schemeClr val="tx1"/>
                </a:solidFill>
              </a:rPr>
              <a:t>ABDULMUMIN MUHAMMAD SALIS</a:t>
            </a:r>
          </a:p>
          <a:p>
            <a:r>
              <a:rPr lang="en-US" dirty="0">
                <a:solidFill>
                  <a:schemeClr val="tx1"/>
                </a:solidFill>
              </a:rPr>
              <a:t>SUPERVISED BY: UZOMA EWURUM</a:t>
            </a:r>
          </a:p>
        </p:txBody>
      </p:sp>
      <p:pic>
        <p:nvPicPr>
          <p:cNvPr id="6" name="Picture 5">
            <a:extLst>
              <a:ext uri="{FF2B5EF4-FFF2-40B4-BE49-F238E27FC236}">
                <a16:creationId xmlns:a16="http://schemas.microsoft.com/office/drawing/2014/main" id="{6E4C87AC-B3A9-6824-54BD-8C5EAA98386B}"/>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1"/>
            <a:ext cx="12192001" cy="6857999"/>
          </a:xfrm>
          <a:prstGeom prst="rect">
            <a:avLst/>
          </a:prstGeom>
        </p:spPr>
      </p:pic>
    </p:spTree>
    <p:extLst>
      <p:ext uri="{BB962C8B-B14F-4D97-AF65-F5344CB8AC3E}">
        <p14:creationId xmlns:p14="http://schemas.microsoft.com/office/powerpoint/2010/main" val="2403914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08DE5-006F-40D1-1ABB-A001A76194E7}"/>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7653AABD-75AC-7729-F420-9DACD29D19BF}"/>
              </a:ext>
            </a:extLst>
          </p:cNvPr>
          <p:cNvSpPr>
            <a:spLocks noGrp="1"/>
          </p:cNvSpPr>
          <p:nvPr>
            <p:ph idx="1"/>
          </p:nvPr>
        </p:nvSpPr>
        <p:spPr>
          <a:xfrm>
            <a:off x="1103313" y="2052918"/>
            <a:ext cx="4992688" cy="4195481"/>
          </a:xfrm>
        </p:spPr>
        <p:txBody>
          <a:bodyPr/>
          <a:lstStyle/>
          <a:p>
            <a:r>
              <a:rPr lang="en-US" dirty="0"/>
              <a:t>A data-driven retail intelligence system that analyzes sales and inventory to detect stock risks, identify high and low-performing products, and forecast demand. It enables smarter, faster, and more profitable decision-making for retail store owners.</a:t>
            </a:r>
          </a:p>
        </p:txBody>
      </p:sp>
      <p:pic>
        <p:nvPicPr>
          <p:cNvPr id="5" name="Picture 4">
            <a:extLst>
              <a:ext uri="{FF2B5EF4-FFF2-40B4-BE49-F238E27FC236}">
                <a16:creationId xmlns:a16="http://schemas.microsoft.com/office/drawing/2014/main" id="{D42D8551-D373-1866-4A75-FC793275AB90}"/>
              </a:ext>
            </a:extLst>
          </p:cNvPr>
          <p:cNvPicPr>
            <a:picLocks noChangeAspect="1"/>
          </p:cNvPicPr>
          <p:nvPr/>
        </p:nvPicPr>
        <p:blipFill>
          <a:blip r:embed="rId2">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6610662" y="1356610"/>
            <a:ext cx="4669436" cy="4459574"/>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Tree>
    <p:extLst>
      <p:ext uri="{BB962C8B-B14F-4D97-AF65-F5344CB8AC3E}">
        <p14:creationId xmlns:p14="http://schemas.microsoft.com/office/powerpoint/2010/main" val="2815651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6AB31-9543-9D04-0CE4-57CE1FF307D8}"/>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D3B0B335-7DD7-4CA7-69F6-BDF888860D69}"/>
              </a:ext>
            </a:extLst>
          </p:cNvPr>
          <p:cNvSpPr>
            <a:spLocks noGrp="1"/>
          </p:cNvSpPr>
          <p:nvPr>
            <p:ph idx="1"/>
          </p:nvPr>
        </p:nvSpPr>
        <p:spPr>
          <a:xfrm>
            <a:off x="1103313" y="2052918"/>
            <a:ext cx="5687232" cy="4195481"/>
          </a:xfrm>
        </p:spPr>
        <p:txBody>
          <a:bodyPr/>
          <a:lstStyle/>
          <a:p>
            <a:r>
              <a:rPr lang="en-US" dirty="0"/>
              <a:t>Retail stores frequently lose revenue due to poor inventory decisions. Products run out too quickly or remain unsold for too long. Most small businesses rely on guesswork instead of data, leading to inefficiency, waste, and missed opportunities.</a:t>
            </a:r>
          </a:p>
        </p:txBody>
      </p:sp>
      <p:pic>
        <p:nvPicPr>
          <p:cNvPr id="5" name="Picture 4">
            <a:extLst>
              <a:ext uri="{FF2B5EF4-FFF2-40B4-BE49-F238E27FC236}">
                <a16:creationId xmlns:a16="http://schemas.microsoft.com/office/drawing/2014/main" id="{F6708322-1123-167B-F0A9-1A1B8A406657}"/>
              </a:ext>
            </a:extLst>
          </p:cNvPr>
          <p:cNvPicPr>
            <a:picLocks noChangeAspect="1"/>
          </p:cNvPicPr>
          <p:nvPr/>
        </p:nvPicPr>
        <p:blipFill>
          <a:blip r:embed="rId2">
            <a:duotone>
              <a:prstClr val="black"/>
              <a:srgbClr val="D9C3A5">
                <a:tint val="50000"/>
                <a:satMod val="180000"/>
              </a:srgbClr>
            </a:duotone>
            <a:alphaModFix amt="70000"/>
            <a:extLst>
              <a:ext uri="{28A0092B-C50C-407E-A947-70E740481C1C}">
                <a14:useLocalDpi xmlns:a14="http://schemas.microsoft.com/office/drawing/2010/main" val="0"/>
              </a:ext>
            </a:extLst>
          </a:blip>
          <a:stretch>
            <a:fillRect/>
          </a:stretch>
        </p:blipFill>
        <p:spPr>
          <a:xfrm>
            <a:off x="6715749" y="2106820"/>
            <a:ext cx="4062178" cy="30797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131311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7B2D4-7997-16CF-D88A-6F2C75E88064}"/>
              </a:ext>
            </a:extLst>
          </p:cNvPr>
          <p:cNvSpPr>
            <a:spLocks noGrp="1"/>
          </p:cNvSpPr>
          <p:nvPr>
            <p:ph type="title"/>
          </p:nvPr>
        </p:nvSpPr>
        <p:spPr/>
        <p:txBody>
          <a:bodyPr/>
          <a:lstStyle/>
          <a:p>
            <a:r>
              <a:rPr lang="en-US" b="1" dirty="0"/>
              <a:t>Project Objective</a:t>
            </a:r>
            <a:endParaRPr lang="en-US" dirty="0"/>
          </a:p>
        </p:txBody>
      </p:sp>
      <p:sp>
        <p:nvSpPr>
          <p:cNvPr id="3" name="Content Placeholder 2">
            <a:extLst>
              <a:ext uri="{FF2B5EF4-FFF2-40B4-BE49-F238E27FC236}">
                <a16:creationId xmlns:a16="http://schemas.microsoft.com/office/drawing/2014/main" id="{DC37C85F-5E7B-C79C-72CC-F0E626EBB70A}"/>
              </a:ext>
            </a:extLst>
          </p:cNvPr>
          <p:cNvSpPr>
            <a:spLocks noGrp="1"/>
          </p:cNvSpPr>
          <p:nvPr>
            <p:ph idx="1"/>
          </p:nvPr>
        </p:nvSpPr>
        <p:spPr/>
        <p:txBody>
          <a:bodyPr/>
          <a:lstStyle/>
          <a:p>
            <a:r>
              <a:rPr lang="en-US" dirty="0"/>
              <a:t>Monitor store performance</a:t>
            </a:r>
          </a:p>
          <a:p>
            <a:r>
              <a:rPr lang="en-US" dirty="0"/>
              <a:t>Detect overstock and out-of-stock risk</a:t>
            </a:r>
          </a:p>
          <a:p>
            <a:r>
              <a:rPr lang="en-US" dirty="0"/>
              <a:t>Identify best and low selling products</a:t>
            </a:r>
          </a:p>
          <a:p>
            <a:r>
              <a:rPr lang="en-US" dirty="0"/>
              <a:t>Analyze daily/monthly sales</a:t>
            </a:r>
          </a:p>
          <a:p>
            <a:r>
              <a:rPr lang="en-US" dirty="0"/>
              <a:t>Forecast future sales</a:t>
            </a:r>
          </a:p>
          <a:p>
            <a:r>
              <a:rPr lang="en-US" dirty="0"/>
              <a:t>Predict days remaining to restock</a:t>
            </a:r>
          </a:p>
        </p:txBody>
      </p:sp>
      <p:pic>
        <p:nvPicPr>
          <p:cNvPr id="8" name="Picture 7">
            <a:extLst>
              <a:ext uri="{FF2B5EF4-FFF2-40B4-BE49-F238E27FC236}">
                <a16:creationId xmlns:a16="http://schemas.microsoft.com/office/drawing/2014/main" id="{8CAE1C7B-89D3-5DBF-3526-3D4F81BD16FC}"/>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6248652" y="1269353"/>
            <a:ext cx="5679007" cy="4195481"/>
          </a:xfrm>
          <a:prstGeom prst="rect">
            <a:avLst/>
          </a:prstGeom>
        </p:spPr>
      </p:pic>
    </p:spTree>
    <p:extLst>
      <p:ext uri="{BB962C8B-B14F-4D97-AF65-F5344CB8AC3E}">
        <p14:creationId xmlns:p14="http://schemas.microsoft.com/office/powerpoint/2010/main" val="597187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8958A-AD0F-6D52-9561-2F5496DCB417}"/>
              </a:ext>
            </a:extLst>
          </p:cNvPr>
          <p:cNvSpPr>
            <a:spLocks noGrp="1"/>
          </p:cNvSpPr>
          <p:nvPr>
            <p:ph type="title"/>
          </p:nvPr>
        </p:nvSpPr>
        <p:spPr/>
        <p:txBody>
          <a:bodyPr/>
          <a:lstStyle/>
          <a:p>
            <a:r>
              <a:rPr lang="en-US" b="1" dirty="0"/>
              <a:t>Tools Used</a:t>
            </a:r>
            <a:br>
              <a:rPr lang="en-US" b="1" dirty="0"/>
            </a:br>
            <a:endParaRPr lang="en-US" dirty="0"/>
          </a:p>
        </p:txBody>
      </p:sp>
      <p:sp>
        <p:nvSpPr>
          <p:cNvPr id="3" name="Content Placeholder 2">
            <a:extLst>
              <a:ext uri="{FF2B5EF4-FFF2-40B4-BE49-F238E27FC236}">
                <a16:creationId xmlns:a16="http://schemas.microsoft.com/office/drawing/2014/main" id="{11B6E7E0-5208-5DC6-9172-A8ACEFC84895}"/>
              </a:ext>
            </a:extLst>
          </p:cNvPr>
          <p:cNvSpPr>
            <a:spLocks noGrp="1"/>
          </p:cNvSpPr>
          <p:nvPr>
            <p:ph idx="1"/>
          </p:nvPr>
        </p:nvSpPr>
        <p:spPr/>
        <p:txBody>
          <a:bodyPr/>
          <a:lstStyle/>
          <a:p>
            <a:r>
              <a:rPr lang="en-US" dirty="0"/>
              <a:t>Excel</a:t>
            </a:r>
          </a:p>
          <a:p>
            <a:r>
              <a:rPr lang="en-US" dirty="0"/>
              <a:t>CSV</a:t>
            </a:r>
          </a:p>
          <a:p>
            <a:r>
              <a:rPr lang="en-US" dirty="0"/>
              <a:t>SQL</a:t>
            </a:r>
          </a:p>
          <a:p>
            <a:r>
              <a:rPr lang="en-US" dirty="0"/>
              <a:t>Python</a:t>
            </a:r>
          </a:p>
          <a:p>
            <a:r>
              <a:rPr lang="en-US" dirty="0"/>
              <a:t>Power BI</a:t>
            </a:r>
          </a:p>
          <a:p>
            <a:r>
              <a:rPr lang="en-US" dirty="0"/>
              <a:t>PowerPoint</a:t>
            </a:r>
          </a:p>
          <a:p>
            <a:pPr marL="0" indent="0">
              <a:buNone/>
            </a:pPr>
            <a:endParaRPr lang="en-US" dirty="0"/>
          </a:p>
          <a:p>
            <a:endParaRPr lang="en-US" dirty="0"/>
          </a:p>
        </p:txBody>
      </p:sp>
      <p:pic>
        <p:nvPicPr>
          <p:cNvPr id="5" name="Picture 4">
            <a:extLst>
              <a:ext uri="{FF2B5EF4-FFF2-40B4-BE49-F238E27FC236}">
                <a16:creationId xmlns:a16="http://schemas.microsoft.com/office/drawing/2014/main" id="{51523ADF-893D-C25D-5F58-1727087575A1}"/>
              </a:ext>
            </a:extLst>
          </p:cNvPr>
          <p:cNvPicPr>
            <a:picLocks noChangeAspect="1"/>
          </p:cNvPicPr>
          <p:nvPr/>
        </p:nvPicPr>
        <p:blipFill>
          <a:blip r:embed="rId2">
            <a:duotone>
              <a:schemeClr val="bg2">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a:off x="4857750" y="1343278"/>
            <a:ext cx="5726632" cy="4905121"/>
          </a:xfrm>
          <a:prstGeom prst="rect">
            <a:avLst/>
          </a:prstGeom>
        </p:spPr>
      </p:pic>
    </p:spTree>
    <p:extLst>
      <p:ext uri="{BB962C8B-B14F-4D97-AF65-F5344CB8AC3E}">
        <p14:creationId xmlns:p14="http://schemas.microsoft.com/office/powerpoint/2010/main" val="50662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3CC82-C4B4-CEDC-A7DE-73FF8B02D764}"/>
              </a:ext>
            </a:extLst>
          </p:cNvPr>
          <p:cNvSpPr>
            <a:spLocks noGrp="1"/>
          </p:cNvSpPr>
          <p:nvPr>
            <p:ph type="title"/>
          </p:nvPr>
        </p:nvSpPr>
        <p:spPr/>
        <p:txBody>
          <a:bodyPr/>
          <a:lstStyle/>
          <a:p>
            <a:r>
              <a:rPr lang="en-US" b="1" dirty="0"/>
              <a:t>Dataset Description</a:t>
            </a:r>
            <a:br>
              <a:rPr lang="en-US" b="1" dirty="0"/>
            </a:br>
            <a:endParaRPr lang="en-US" dirty="0"/>
          </a:p>
        </p:txBody>
      </p:sp>
      <p:sp>
        <p:nvSpPr>
          <p:cNvPr id="3" name="Content Placeholder 2">
            <a:extLst>
              <a:ext uri="{FF2B5EF4-FFF2-40B4-BE49-F238E27FC236}">
                <a16:creationId xmlns:a16="http://schemas.microsoft.com/office/drawing/2014/main" id="{582A7441-B782-30E3-EB37-7CA0894B3F4D}"/>
              </a:ext>
            </a:extLst>
          </p:cNvPr>
          <p:cNvSpPr>
            <a:spLocks noGrp="1"/>
          </p:cNvSpPr>
          <p:nvPr>
            <p:ph idx="1"/>
          </p:nvPr>
        </p:nvSpPr>
        <p:spPr/>
        <p:txBody>
          <a:bodyPr>
            <a:normAutofit fontScale="92500" lnSpcReduction="20000"/>
          </a:bodyPr>
          <a:lstStyle/>
          <a:p>
            <a:r>
              <a:rPr lang="en-US" dirty="0"/>
              <a:t>Inventory Sheet</a:t>
            </a:r>
          </a:p>
          <a:p>
            <a:pPr>
              <a:buFont typeface="Arial" panose="020B0604020202020204" pitchFamily="34" charset="0"/>
              <a:buChar char="•"/>
            </a:pPr>
            <a:r>
              <a:rPr lang="en-US" dirty="0"/>
              <a:t>Categories</a:t>
            </a:r>
          </a:p>
          <a:p>
            <a:pPr>
              <a:buFont typeface="Arial" panose="020B0604020202020204" pitchFamily="34" charset="0"/>
              <a:buChar char="•"/>
            </a:pPr>
            <a:r>
              <a:rPr lang="en-US" dirty="0"/>
              <a:t>Products</a:t>
            </a:r>
          </a:p>
          <a:p>
            <a:pPr>
              <a:buFont typeface="Arial" panose="020B0604020202020204" pitchFamily="34" charset="0"/>
              <a:buChar char="•"/>
            </a:pPr>
            <a:r>
              <a:rPr lang="en-US" dirty="0"/>
              <a:t>Stocked</a:t>
            </a:r>
          </a:p>
          <a:p>
            <a:r>
              <a:rPr lang="en-US" dirty="0"/>
              <a:t>Sales datasets</a:t>
            </a:r>
          </a:p>
          <a:p>
            <a:pPr>
              <a:buFont typeface="Arial" panose="020B0604020202020204" pitchFamily="34" charset="0"/>
              <a:buChar char="•"/>
            </a:pPr>
            <a:r>
              <a:rPr lang="en-US" dirty="0"/>
              <a:t>Date </a:t>
            </a:r>
          </a:p>
          <a:p>
            <a:pPr>
              <a:buFont typeface="Arial" panose="020B0604020202020204" pitchFamily="34" charset="0"/>
              <a:buChar char="•"/>
            </a:pPr>
            <a:r>
              <a:rPr lang="en-US" dirty="0"/>
              <a:t>Categories</a:t>
            </a:r>
          </a:p>
          <a:p>
            <a:pPr>
              <a:buFont typeface="Arial" panose="020B0604020202020204" pitchFamily="34" charset="0"/>
              <a:buChar char="•"/>
            </a:pPr>
            <a:r>
              <a:rPr lang="en-US" dirty="0"/>
              <a:t>Products</a:t>
            </a:r>
          </a:p>
          <a:p>
            <a:pPr>
              <a:buFont typeface="Arial" panose="020B0604020202020204" pitchFamily="34" charset="0"/>
              <a:buChar char="•"/>
            </a:pPr>
            <a:r>
              <a:rPr lang="en-US" dirty="0"/>
              <a:t>Dates</a:t>
            </a:r>
          </a:p>
          <a:p>
            <a:pPr>
              <a:buFont typeface="Arial" panose="020B0604020202020204" pitchFamily="34" charset="0"/>
              <a:buChar char="•"/>
            </a:pPr>
            <a:r>
              <a:rPr lang="en-US" dirty="0"/>
              <a:t>Quantity</a:t>
            </a:r>
          </a:p>
          <a:p>
            <a:pPr>
              <a:buFont typeface="Arial" panose="020B0604020202020204" pitchFamily="34" charset="0"/>
              <a:buChar char="•"/>
            </a:pPr>
            <a:r>
              <a:rPr lang="en-US" dirty="0"/>
              <a:t>Price</a:t>
            </a:r>
          </a:p>
          <a:p>
            <a:pPr marL="0" indent="0">
              <a:buNone/>
            </a:pPr>
            <a:endParaRPr lang="en-US" dirty="0"/>
          </a:p>
          <a:p>
            <a:pPr marL="0" indent="0">
              <a:buNone/>
            </a:pPr>
            <a:endParaRPr lang="en-US" dirty="0"/>
          </a:p>
          <a:p>
            <a:pPr marL="0" indent="0">
              <a:buNone/>
            </a:pPr>
            <a:endParaRPr lang="en-US" dirty="0"/>
          </a:p>
        </p:txBody>
      </p:sp>
      <p:pic>
        <p:nvPicPr>
          <p:cNvPr id="7" name="Picture 6">
            <a:extLst>
              <a:ext uri="{FF2B5EF4-FFF2-40B4-BE49-F238E27FC236}">
                <a16:creationId xmlns:a16="http://schemas.microsoft.com/office/drawing/2014/main" id="{D53309DC-B248-2D8D-DDF3-5278C57D4169}"/>
              </a:ext>
            </a:extLst>
          </p:cNvPr>
          <p:cNvPicPr>
            <a:picLocks noChangeAspect="1"/>
          </p:cNvPicPr>
          <p:nvPr/>
        </p:nvPicPr>
        <p:blipFill>
          <a:blip r:embed="rId2">
            <a:duotone>
              <a:prstClr val="black"/>
              <a:srgbClr val="D9C3A5">
                <a:tint val="50000"/>
                <a:satMod val="180000"/>
              </a:srgbClr>
            </a:duotone>
            <a:alphaModFix amt="20000"/>
            <a:extLst>
              <a:ext uri="{28A0092B-C50C-407E-A947-70E740481C1C}">
                <a14:useLocalDpi xmlns:a14="http://schemas.microsoft.com/office/drawing/2010/main" val="0"/>
              </a:ext>
            </a:extLst>
          </a:blip>
          <a:stretch>
            <a:fillRect/>
          </a:stretch>
        </p:blipFill>
        <p:spPr>
          <a:xfrm>
            <a:off x="5029199" y="1865454"/>
            <a:ext cx="4640783" cy="4195481"/>
          </a:xfrm>
          <a:prstGeom prst="rect">
            <a:avLst/>
          </a:prstGeom>
        </p:spPr>
      </p:pic>
    </p:spTree>
    <p:extLst>
      <p:ext uri="{BB962C8B-B14F-4D97-AF65-F5344CB8AC3E}">
        <p14:creationId xmlns:p14="http://schemas.microsoft.com/office/powerpoint/2010/main" val="360789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1C5FB-6AD9-79DA-D17A-8234981B5870}"/>
              </a:ext>
            </a:extLst>
          </p:cNvPr>
          <p:cNvSpPr>
            <a:spLocks noGrp="1"/>
          </p:cNvSpPr>
          <p:nvPr>
            <p:ph type="title"/>
          </p:nvPr>
        </p:nvSpPr>
        <p:spPr>
          <a:xfrm>
            <a:off x="792319" y="227796"/>
            <a:ext cx="9404723" cy="1400530"/>
          </a:xfrm>
        </p:spPr>
        <p:txBody>
          <a:bodyPr/>
          <a:lstStyle/>
          <a:p>
            <a:r>
              <a:rPr lang="en-US" dirty="0"/>
              <a:t>Inventory analysis</a:t>
            </a:r>
          </a:p>
        </p:txBody>
      </p:sp>
      <p:sp>
        <p:nvSpPr>
          <p:cNvPr id="3" name="Content Placeholder 2">
            <a:extLst>
              <a:ext uri="{FF2B5EF4-FFF2-40B4-BE49-F238E27FC236}">
                <a16:creationId xmlns:a16="http://schemas.microsoft.com/office/drawing/2014/main" id="{66AFCC9F-ADF1-A880-9AA8-EB20891E81E9}"/>
              </a:ext>
            </a:extLst>
          </p:cNvPr>
          <p:cNvSpPr>
            <a:spLocks noGrp="1"/>
          </p:cNvSpPr>
          <p:nvPr>
            <p:ph idx="1"/>
          </p:nvPr>
        </p:nvSpPr>
        <p:spPr/>
        <p:txBody>
          <a:bodyPr/>
          <a:lstStyle/>
          <a:p>
            <a:r>
              <a:rPr lang="en-US" dirty="0"/>
              <a:t>Classifies stocks into:</a:t>
            </a:r>
          </a:p>
          <a:p>
            <a:pPr marL="0" indent="0">
              <a:buNone/>
            </a:pPr>
            <a:endParaRPr lang="en-US" dirty="0"/>
          </a:p>
          <a:p>
            <a:pPr marL="0" indent="0">
              <a:buNone/>
            </a:pPr>
            <a:endParaRPr lang="en-US" dirty="0"/>
          </a:p>
        </p:txBody>
      </p:sp>
      <p:sp>
        <p:nvSpPr>
          <p:cNvPr id="6" name="Rectangle 3">
            <a:extLst>
              <a:ext uri="{FF2B5EF4-FFF2-40B4-BE49-F238E27FC236}">
                <a16:creationId xmlns:a16="http://schemas.microsoft.com/office/drawing/2014/main" id="{515A97A4-8D75-F96C-B502-3BEE38D4BC2D}"/>
              </a:ext>
            </a:extLst>
          </p:cNvPr>
          <p:cNvSpPr>
            <a:spLocks noChangeArrowheads="1"/>
          </p:cNvSpPr>
          <p:nvPr/>
        </p:nvSpPr>
        <p:spPr bwMode="auto">
          <a:xfrm>
            <a:off x="1103312" y="2136338"/>
            <a:ext cx="246734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Low Stock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Overstock</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dirty="0">
                <a:latin typeface="Arial" panose="020B0604020202020204" pitchFamily="34" charset="0"/>
              </a:rPr>
              <a:t>Normal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Based on Re-order % </a:t>
            </a:r>
          </a:p>
        </p:txBody>
      </p:sp>
      <p:pic>
        <p:nvPicPr>
          <p:cNvPr id="5" name="Picture 4">
            <a:extLst>
              <a:ext uri="{FF2B5EF4-FFF2-40B4-BE49-F238E27FC236}">
                <a16:creationId xmlns:a16="http://schemas.microsoft.com/office/drawing/2014/main" id="{61652070-D616-2060-BB01-4A1BE08E3527}"/>
              </a:ext>
            </a:extLst>
          </p:cNvPr>
          <p:cNvPicPr>
            <a:picLocks noChangeAspect="1"/>
          </p:cNvPicPr>
          <p:nvPr/>
        </p:nvPicPr>
        <p:blipFill>
          <a:blip r:embed="rId2">
            <a:duotone>
              <a:schemeClr val="accent4">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a:off x="4619625" y="2052918"/>
            <a:ext cx="6037586" cy="3490125"/>
          </a:xfrm>
          <a:prstGeom prst="rect">
            <a:avLst/>
          </a:prstGeom>
        </p:spPr>
      </p:pic>
    </p:spTree>
    <p:extLst>
      <p:ext uri="{BB962C8B-B14F-4D97-AF65-F5344CB8AC3E}">
        <p14:creationId xmlns:p14="http://schemas.microsoft.com/office/powerpoint/2010/main" val="3176601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EAAE9-F545-1C6E-33B3-E08942886685}"/>
              </a:ext>
            </a:extLst>
          </p:cNvPr>
          <p:cNvSpPr>
            <a:spLocks noGrp="1"/>
          </p:cNvSpPr>
          <p:nvPr>
            <p:ph type="title"/>
          </p:nvPr>
        </p:nvSpPr>
        <p:spPr/>
        <p:txBody>
          <a:bodyPr/>
          <a:lstStyle/>
          <a:p>
            <a:r>
              <a:rPr lang="en-US" b="1" dirty="0"/>
              <a:t>Data Cleaning</a:t>
            </a:r>
            <a:br>
              <a:rPr lang="en-US" b="1" dirty="0"/>
            </a:br>
            <a:endParaRPr lang="en-US" dirty="0"/>
          </a:p>
        </p:txBody>
      </p:sp>
      <p:sp>
        <p:nvSpPr>
          <p:cNvPr id="3" name="Content Placeholder 2">
            <a:extLst>
              <a:ext uri="{FF2B5EF4-FFF2-40B4-BE49-F238E27FC236}">
                <a16:creationId xmlns:a16="http://schemas.microsoft.com/office/drawing/2014/main" id="{34E92F49-BDE1-99C1-9F99-3C48D874D5B8}"/>
              </a:ext>
            </a:extLst>
          </p:cNvPr>
          <p:cNvSpPr>
            <a:spLocks noGrp="1"/>
          </p:cNvSpPr>
          <p:nvPr>
            <p:ph idx="1"/>
          </p:nvPr>
        </p:nvSpPr>
        <p:spPr/>
        <p:txBody>
          <a:bodyPr/>
          <a:lstStyle/>
          <a:p>
            <a:r>
              <a:rPr lang="en-US" dirty="0"/>
              <a:t>Standardized category names</a:t>
            </a:r>
          </a:p>
          <a:p>
            <a:r>
              <a:rPr lang="en-US" dirty="0"/>
              <a:t>Standardized product names</a:t>
            </a:r>
          </a:p>
          <a:p>
            <a:r>
              <a:rPr lang="en-US" dirty="0"/>
              <a:t>Fixed date formats</a:t>
            </a:r>
          </a:p>
          <a:p>
            <a:r>
              <a:rPr lang="en-US" dirty="0"/>
              <a:t>Handled mismatches</a:t>
            </a:r>
          </a:p>
          <a:p>
            <a:pPr marL="0" indent="0">
              <a:buNone/>
            </a:pPr>
            <a:endParaRPr lang="en-US" dirty="0"/>
          </a:p>
        </p:txBody>
      </p:sp>
      <p:pic>
        <p:nvPicPr>
          <p:cNvPr id="5" name="Picture 4">
            <a:extLst>
              <a:ext uri="{FF2B5EF4-FFF2-40B4-BE49-F238E27FC236}">
                <a16:creationId xmlns:a16="http://schemas.microsoft.com/office/drawing/2014/main" id="{5EB84832-5F08-5DB6-7A5B-8D1B64FEAA8D}"/>
              </a:ext>
            </a:extLst>
          </p:cNvPr>
          <p:cNvPicPr>
            <a:picLocks noChangeAspect="1"/>
          </p:cNvPicPr>
          <p:nvPr/>
        </p:nvPicPr>
        <p:blipFill>
          <a:blip r:embed="rId2">
            <a:duotone>
              <a:prstClr val="black"/>
              <a:srgbClr val="D9C3A5">
                <a:tint val="50000"/>
                <a:satMod val="180000"/>
              </a:srgbClr>
            </a:duotone>
            <a:alphaModFix amt="20000"/>
            <a:extLst>
              <a:ext uri="{28A0092B-C50C-407E-A947-70E740481C1C}">
                <a14:useLocalDpi xmlns:a14="http://schemas.microsoft.com/office/drawing/2010/main" val="0"/>
              </a:ext>
            </a:extLst>
          </a:blip>
          <a:stretch>
            <a:fillRect/>
          </a:stretch>
        </p:blipFill>
        <p:spPr>
          <a:xfrm>
            <a:off x="5809365" y="1853249"/>
            <a:ext cx="4329955" cy="3924464"/>
          </a:xfrm>
          <a:prstGeom prst="rect">
            <a:avLst/>
          </a:prstGeom>
        </p:spPr>
      </p:pic>
    </p:spTree>
    <p:extLst>
      <p:ext uri="{BB962C8B-B14F-4D97-AF65-F5344CB8AC3E}">
        <p14:creationId xmlns:p14="http://schemas.microsoft.com/office/powerpoint/2010/main" val="1602855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9E715-D49E-8FD5-AA94-022D7D2279B2}"/>
              </a:ext>
            </a:extLst>
          </p:cNvPr>
          <p:cNvSpPr>
            <a:spLocks noGrp="1"/>
          </p:cNvSpPr>
          <p:nvPr>
            <p:ph type="title"/>
          </p:nvPr>
        </p:nvSpPr>
        <p:spPr/>
        <p:txBody>
          <a:bodyPr/>
          <a:lstStyle/>
          <a:p>
            <a:r>
              <a:rPr lang="en-US" b="1" dirty="0"/>
              <a:t>KPI Summary</a:t>
            </a:r>
            <a:br>
              <a:rPr lang="en-US" b="1" dirty="0"/>
            </a:br>
            <a:endParaRPr lang="en-US" dirty="0"/>
          </a:p>
        </p:txBody>
      </p:sp>
      <p:sp>
        <p:nvSpPr>
          <p:cNvPr id="3" name="Content Placeholder 2">
            <a:extLst>
              <a:ext uri="{FF2B5EF4-FFF2-40B4-BE49-F238E27FC236}">
                <a16:creationId xmlns:a16="http://schemas.microsoft.com/office/drawing/2014/main" id="{9A12D824-3144-191A-AE68-7F6F62090658}"/>
              </a:ext>
            </a:extLst>
          </p:cNvPr>
          <p:cNvSpPr>
            <a:spLocks noGrp="1"/>
          </p:cNvSpPr>
          <p:nvPr>
            <p:ph idx="1"/>
          </p:nvPr>
        </p:nvSpPr>
        <p:spPr/>
        <p:txBody>
          <a:bodyPr/>
          <a:lstStyle/>
          <a:p>
            <a:r>
              <a:rPr lang="en-US" dirty="0"/>
              <a:t>Total units sold</a:t>
            </a:r>
          </a:p>
          <a:p>
            <a:r>
              <a:rPr lang="en-US" dirty="0"/>
              <a:t>Number of products</a:t>
            </a:r>
          </a:p>
          <a:p>
            <a:r>
              <a:rPr lang="en-US" dirty="0"/>
              <a:t>Best-selling product</a:t>
            </a:r>
          </a:p>
          <a:p>
            <a:r>
              <a:rPr lang="en-US" dirty="0"/>
              <a:t>Lowest-selling product</a:t>
            </a:r>
          </a:p>
          <a:p>
            <a:r>
              <a:rPr lang="en-US" dirty="0"/>
              <a:t>Overstock count</a:t>
            </a:r>
          </a:p>
          <a:p>
            <a:r>
              <a:rPr lang="en-US" dirty="0"/>
              <a:t>Low stock count</a:t>
            </a:r>
          </a:p>
          <a:p>
            <a:endParaRPr lang="en-US" dirty="0"/>
          </a:p>
        </p:txBody>
      </p:sp>
      <p:pic>
        <p:nvPicPr>
          <p:cNvPr id="5" name="Picture 4">
            <a:extLst>
              <a:ext uri="{FF2B5EF4-FFF2-40B4-BE49-F238E27FC236}">
                <a16:creationId xmlns:a16="http://schemas.microsoft.com/office/drawing/2014/main" id="{7A4DD6CE-E436-32A3-4632-F9C3E0B93DDA}"/>
              </a:ext>
            </a:extLst>
          </p:cNvPr>
          <p:cNvPicPr>
            <a:picLocks noChangeAspect="1"/>
          </p:cNvPicPr>
          <p:nvPr/>
        </p:nvPicPr>
        <p:blipFill>
          <a:blip r:embed="rId2">
            <a:duotone>
              <a:prstClr val="black"/>
              <a:srgbClr val="D9C3A5">
                <a:tint val="50000"/>
                <a:satMod val="180000"/>
              </a:srgbClr>
            </a:duotone>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5024437" y="1205713"/>
            <a:ext cx="4524165" cy="4272596"/>
          </a:xfrm>
          <a:prstGeom prst="rect">
            <a:avLst/>
          </a:prstGeom>
        </p:spPr>
      </p:pic>
    </p:spTree>
    <p:extLst>
      <p:ext uri="{BB962C8B-B14F-4D97-AF65-F5344CB8AC3E}">
        <p14:creationId xmlns:p14="http://schemas.microsoft.com/office/powerpoint/2010/main" val="1641530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F679B-DDD0-E25C-FC13-92E444D1A642}"/>
              </a:ext>
            </a:extLst>
          </p:cNvPr>
          <p:cNvSpPr>
            <a:spLocks noGrp="1"/>
          </p:cNvSpPr>
          <p:nvPr>
            <p:ph type="title"/>
          </p:nvPr>
        </p:nvSpPr>
        <p:spPr/>
        <p:txBody>
          <a:bodyPr/>
          <a:lstStyle/>
          <a:p>
            <a:r>
              <a:rPr lang="en-US" b="1" dirty="0"/>
              <a:t>Inventory Status</a:t>
            </a:r>
            <a:br>
              <a:rPr lang="en-US" b="1" dirty="0"/>
            </a:br>
            <a:endParaRPr lang="en-US" dirty="0"/>
          </a:p>
        </p:txBody>
      </p:sp>
      <p:sp>
        <p:nvSpPr>
          <p:cNvPr id="3" name="Content Placeholder 2">
            <a:extLst>
              <a:ext uri="{FF2B5EF4-FFF2-40B4-BE49-F238E27FC236}">
                <a16:creationId xmlns:a16="http://schemas.microsoft.com/office/drawing/2014/main" id="{2769A46A-12CF-C559-B2CB-2DA0A6284344}"/>
              </a:ext>
            </a:extLst>
          </p:cNvPr>
          <p:cNvSpPr>
            <a:spLocks noGrp="1"/>
          </p:cNvSpPr>
          <p:nvPr>
            <p:ph idx="1"/>
          </p:nvPr>
        </p:nvSpPr>
        <p:spPr/>
        <p:txBody>
          <a:bodyPr/>
          <a:lstStyle/>
          <a:p>
            <a:pPr marL="0" indent="0">
              <a:buNone/>
            </a:pPr>
            <a:endParaRPr lang="en-US" dirty="0"/>
          </a:p>
          <a:p>
            <a:r>
              <a:rPr lang="en-US" dirty="0"/>
              <a:t>Remaining stock</a:t>
            </a:r>
          </a:p>
          <a:p>
            <a:r>
              <a:rPr lang="en-US" dirty="0" err="1"/>
              <a:t>Re_stock</a:t>
            </a:r>
            <a:r>
              <a:rPr lang="en-US" dirty="0"/>
              <a:t> %</a:t>
            </a:r>
          </a:p>
          <a:p>
            <a:r>
              <a:rPr lang="en-US" dirty="0"/>
              <a:t>Restock Alerts</a:t>
            </a:r>
          </a:p>
          <a:p>
            <a:endParaRPr lang="en-US" dirty="0"/>
          </a:p>
        </p:txBody>
      </p:sp>
      <p:pic>
        <p:nvPicPr>
          <p:cNvPr id="5" name="Picture 4">
            <a:extLst>
              <a:ext uri="{FF2B5EF4-FFF2-40B4-BE49-F238E27FC236}">
                <a16:creationId xmlns:a16="http://schemas.microsoft.com/office/drawing/2014/main" id="{2DD5459D-7701-13A6-944F-3FA8A58F41C9}"/>
              </a:ext>
            </a:extLst>
          </p:cNvPr>
          <p:cNvPicPr>
            <a:picLocks noChangeAspect="1"/>
          </p:cNvPicPr>
          <p:nvPr/>
        </p:nvPicPr>
        <p:blipFill>
          <a:blip r:embed="rId2">
            <a:duotone>
              <a:prstClr val="black"/>
              <a:srgbClr val="D9C3A5">
                <a:tint val="50000"/>
                <a:satMod val="180000"/>
              </a:srgbClr>
            </a:duotone>
            <a:alphaModFix amt="20000"/>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5024435" y="1798918"/>
            <a:ext cx="5737907" cy="4522053"/>
          </a:xfrm>
          <a:prstGeom prst="rect">
            <a:avLst/>
          </a:prstGeom>
        </p:spPr>
      </p:pic>
    </p:spTree>
    <p:extLst>
      <p:ext uri="{BB962C8B-B14F-4D97-AF65-F5344CB8AC3E}">
        <p14:creationId xmlns:p14="http://schemas.microsoft.com/office/powerpoint/2010/main" val="3128385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6D090-082F-80DC-11E6-A8A79C010708}"/>
              </a:ext>
            </a:extLst>
          </p:cNvPr>
          <p:cNvSpPr>
            <a:spLocks noGrp="1"/>
          </p:cNvSpPr>
          <p:nvPr>
            <p:ph type="title"/>
          </p:nvPr>
        </p:nvSpPr>
        <p:spPr/>
        <p:txBody>
          <a:bodyPr/>
          <a:lstStyle/>
          <a:p>
            <a:r>
              <a:rPr lang="en-US" dirty="0"/>
              <a:t>Sales analysis</a:t>
            </a:r>
          </a:p>
        </p:txBody>
      </p:sp>
      <p:sp>
        <p:nvSpPr>
          <p:cNvPr id="3" name="Content Placeholder 2">
            <a:extLst>
              <a:ext uri="{FF2B5EF4-FFF2-40B4-BE49-F238E27FC236}">
                <a16:creationId xmlns:a16="http://schemas.microsoft.com/office/drawing/2014/main" id="{8811626C-BA58-9453-414A-A4EAB41DA408}"/>
              </a:ext>
            </a:extLst>
          </p:cNvPr>
          <p:cNvSpPr>
            <a:spLocks noGrp="1"/>
          </p:cNvSpPr>
          <p:nvPr>
            <p:ph idx="1"/>
          </p:nvPr>
        </p:nvSpPr>
        <p:spPr/>
        <p:txBody>
          <a:bodyPr/>
          <a:lstStyle/>
          <a:p>
            <a:r>
              <a:rPr lang="en-US" dirty="0"/>
              <a:t>Identified: </a:t>
            </a:r>
          </a:p>
          <a:p>
            <a:pPr lvl="1">
              <a:buFont typeface="Arial" panose="020B0604020202020204" pitchFamily="34" charset="0"/>
              <a:buChar char="•"/>
            </a:pPr>
            <a:r>
              <a:rPr lang="en-US" dirty="0"/>
              <a:t>Top-selling products </a:t>
            </a:r>
          </a:p>
          <a:p>
            <a:pPr lvl="1">
              <a:buFont typeface="Arial" panose="020B0604020202020204" pitchFamily="34" charset="0"/>
              <a:buChar char="•"/>
            </a:pPr>
            <a:r>
              <a:rPr lang="en-US" dirty="0"/>
              <a:t>Low-selling products </a:t>
            </a:r>
          </a:p>
          <a:p>
            <a:r>
              <a:rPr lang="en-US" dirty="0"/>
              <a:t>Analyzed: </a:t>
            </a:r>
          </a:p>
          <a:p>
            <a:pPr lvl="1">
              <a:buFont typeface="Arial" panose="020B0604020202020204" pitchFamily="34" charset="0"/>
              <a:buChar char="•"/>
            </a:pPr>
            <a:r>
              <a:rPr lang="en-US" dirty="0"/>
              <a:t>Daily trends </a:t>
            </a:r>
          </a:p>
          <a:p>
            <a:pPr lvl="1">
              <a:buFont typeface="Arial" panose="020B0604020202020204" pitchFamily="34" charset="0"/>
              <a:buChar char="•"/>
            </a:pPr>
            <a:r>
              <a:rPr lang="en-US" dirty="0"/>
              <a:t>Monthly trends </a:t>
            </a:r>
          </a:p>
          <a:p>
            <a:endParaRPr lang="en-US" dirty="0"/>
          </a:p>
        </p:txBody>
      </p:sp>
      <p:pic>
        <p:nvPicPr>
          <p:cNvPr id="5" name="Picture 4">
            <a:extLst>
              <a:ext uri="{FF2B5EF4-FFF2-40B4-BE49-F238E27FC236}">
                <a16:creationId xmlns:a16="http://schemas.microsoft.com/office/drawing/2014/main" id="{92E05FEF-295B-7BE2-0ADD-7060594E5C4E}"/>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4686144" y="1496309"/>
            <a:ext cx="5611742" cy="4195480"/>
          </a:xfrm>
          <a:prstGeom prst="rect">
            <a:avLst/>
          </a:prstGeom>
        </p:spPr>
      </p:pic>
    </p:spTree>
    <p:extLst>
      <p:ext uri="{BB962C8B-B14F-4D97-AF65-F5344CB8AC3E}">
        <p14:creationId xmlns:p14="http://schemas.microsoft.com/office/powerpoint/2010/main" val="4226190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2E280-E07D-4200-984B-81F5D4E5E197}"/>
              </a:ext>
            </a:extLst>
          </p:cNvPr>
          <p:cNvSpPr>
            <a:spLocks noGrp="1"/>
          </p:cNvSpPr>
          <p:nvPr>
            <p:ph type="title"/>
          </p:nvPr>
        </p:nvSpPr>
        <p:spPr/>
        <p:txBody>
          <a:bodyPr/>
          <a:lstStyle/>
          <a:p>
            <a:r>
              <a:rPr lang="en-US" b="1" dirty="0"/>
              <a:t>Best Sellers</a:t>
            </a:r>
            <a:br>
              <a:rPr lang="en-US" b="1" dirty="0"/>
            </a:br>
            <a:endParaRPr lang="en-US" dirty="0"/>
          </a:p>
        </p:txBody>
      </p:sp>
      <p:sp>
        <p:nvSpPr>
          <p:cNvPr id="3" name="Content Placeholder 2">
            <a:extLst>
              <a:ext uri="{FF2B5EF4-FFF2-40B4-BE49-F238E27FC236}">
                <a16:creationId xmlns:a16="http://schemas.microsoft.com/office/drawing/2014/main" id="{C7D61E5F-F06D-3DC9-BEB5-68C84581296D}"/>
              </a:ext>
            </a:extLst>
          </p:cNvPr>
          <p:cNvSpPr>
            <a:spLocks noGrp="1"/>
          </p:cNvSpPr>
          <p:nvPr>
            <p:ph idx="1"/>
          </p:nvPr>
        </p:nvSpPr>
        <p:spPr/>
        <p:txBody>
          <a:bodyPr/>
          <a:lstStyle/>
          <a:p>
            <a:pPr marL="0" indent="0">
              <a:buNone/>
            </a:pPr>
            <a:endParaRPr lang="en-US" dirty="0"/>
          </a:p>
          <a:p>
            <a:pPr marL="0" indent="0">
              <a:buNone/>
            </a:pPr>
            <a:endParaRPr lang="en-US" dirty="0"/>
          </a:p>
        </p:txBody>
      </p:sp>
      <p:pic>
        <p:nvPicPr>
          <p:cNvPr id="3074" name="Picture 2">
            <a:extLst>
              <a:ext uri="{FF2B5EF4-FFF2-40B4-BE49-F238E27FC236}">
                <a16:creationId xmlns:a16="http://schemas.microsoft.com/office/drawing/2014/main" id="{2FA6CE9C-FF20-2BD8-3699-608E79FFF1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7771" y="1509485"/>
            <a:ext cx="5280583" cy="43397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DC14917-C50C-13FC-88D3-861AF1CB15C8}"/>
              </a:ext>
            </a:extLst>
          </p:cNvPr>
          <p:cNvSpPr txBox="1"/>
          <p:nvPr/>
        </p:nvSpPr>
        <p:spPr>
          <a:xfrm>
            <a:off x="7024806" y="1509485"/>
            <a:ext cx="3805587" cy="1200329"/>
          </a:xfrm>
          <a:prstGeom prst="rect">
            <a:avLst/>
          </a:prstGeom>
          <a:noFill/>
        </p:spPr>
        <p:txBody>
          <a:bodyPr wrap="square">
            <a:spAutoFit/>
          </a:bodyPr>
          <a:lstStyle/>
          <a:p>
            <a:r>
              <a:rPr lang="en-US" dirty="0"/>
              <a:t>Top-performing products drive the majority of sales and should be prioritized for restocking.</a:t>
            </a:r>
          </a:p>
          <a:p>
            <a:endParaRPr lang="en-US" dirty="0"/>
          </a:p>
        </p:txBody>
      </p:sp>
    </p:spTree>
    <p:extLst>
      <p:ext uri="{BB962C8B-B14F-4D97-AF65-F5344CB8AC3E}">
        <p14:creationId xmlns:p14="http://schemas.microsoft.com/office/powerpoint/2010/main" val="3749087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44822-82D4-E676-EA71-0F887958AB86}"/>
              </a:ext>
            </a:extLst>
          </p:cNvPr>
          <p:cNvSpPr>
            <a:spLocks noGrp="1"/>
          </p:cNvSpPr>
          <p:nvPr>
            <p:ph type="title"/>
          </p:nvPr>
        </p:nvSpPr>
        <p:spPr/>
        <p:txBody>
          <a:bodyPr/>
          <a:lstStyle/>
          <a:p>
            <a:r>
              <a:rPr lang="en-US" b="1" dirty="0"/>
              <a:t> Low Stocks</a:t>
            </a:r>
            <a:br>
              <a:rPr lang="en-US" b="1" dirty="0"/>
            </a:br>
            <a:br>
              <a:rPr lang="en-US" b="1" dirty="0"/>
            </a:br>
            <a:endParaRPr lang="en-US" dirty="0"/>
          </a:p>
        </p:txBody>
      </p:sp>
      <p:sp>
        <p:nvSpPr>
          <p:cNvPr id="5" name="Content Placeholder 4">
            <a:extLst>
              <a:ext uri="{FF2B5EF4-FFF2-40B4-BE49-F238E27FC236}">
                <a16:creationId xmlns:a16="http://schemas.microsoft.com/office/drawing/2014/main" id="{CACD29C2-F341-9DEF-6F9B-03D5252FAF63}"/>
              </a:ext>
            </a:extLst>
          </p:cNvPr>
          <p:cNvSpPr>
            <a:spLocks noGrp="1"/>
          </p:cNvSpPr>
          <p:nvPr>
            <p:ph idx="1"/>
          </p:nvPr>
        </p:nvSpPr>
        <p:spPr>
          <a:xfrm>
            <a:off x="6663128" y="2052918"/>
            <a:ext cx="4197245" cy="4195481"/>
          </a:xfrm>
        </p:spPr>
        <p:txBody>
          <a:bodyPr/>
          <a:lstStyle/>
          <a:p>
            <a:r>
              <a:rPr lang="en-US" dirty="0"/>
              <a:t>Low-selling products contribute minimally to revenue and may require promotion or reduced stocking.”</a:t>
            </a:r>
          </a:p>
          <a:p>
            <a:r>
              <a:rPr lang="en-US" dirty="0"/>
              <a:t>I identifies items that are underperforming in the store.</a:t>
            </a:r>
          </a:p>
          <a:p>
            <a:r>
              <a:rPr lang="en-US" dirty="0"/>
              <a:t>9 Products Near Stockout — Immediate Restock Required</a:t>
            </a:r>
          </a:p>
        </p:txBody>
      </p:sp>
      <p:pic>
        <p:nvPicPr>
          <p:cNvPr id="7" name="Picture 6">
            <a:extLst>
              <a:ext uri="{FF2B5EF4-FFF2-40B4-BE49-F238E27FC236}">
                <a16:creationId xmlns:a16="http://schemas.microsoft.com/office/drawing/2014/main" id="{F26E7574-C76F-2C26-BB61-22E78177B866}"/>
              </a:ext>
            </a:extLst>
          </p:cNvPr>
          <p:cNvPicPr>
            <a:picLocks noChangeAspect="1"/>
          </p:cNvPicPr>
          <p:nvPr/>
        </p:nvPicPr>
        <p:blipFill>
          <a:blip r:embed="rId2"/>
          <a:stretch>
            <a:fillRect/>
          </a:stretch>
        </p:blipFill>
        <p:spPr>
          <a:xfrm>
            <a:off x="1103313" y="2052918"/>
            <a:ext cx="5559816" cy="4195481"/>
          </a:xfrm>
          <a:prstGeom prst="rect">
            <a:avLst/>
          </a:prstGeom>
        </p:spPr>
      </p:pic>
    </p:spTree>
    <p:extLst>
      <p:ext uri="{BB962C8B-B14F-4D97-AF65-F5344CB8AC3E}">
        <p14:creationId xmlns:p14="http://schemas.microsoft.com/office/powerpoint/2010/main" val="612359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86640-CE88-2E73-A9E8-78F318B0D5E7}"/>
              </a:ext>
            </a:extLst>
          </p:cNvPr>
          <p:cNvSpPr>
            <a:spLocks noGrp="1"/>
          </p:cNvSpPr>
          <p:nvPr>
            <p:ph type="title"/>
          </p:nvPr>
        </p:nvSpPr>
        <p:spPr/>
        <p:txBody>
          <a:bodyPr/>
          <a:lstStyle/>
          <a:p>
            <a:r>
              <a:rPr lang="en-US" dirty="0"/>
              <a:t>Overstocked</a:t>
            </a:r>
          </a:p>
        </p:txBody>
      </p:sp>
      <p:sp>
        <p:nvSpPr>
          <p:cNvPr id="3" name="Content Placeholder 2">
            <a:extLst>
              <a:ext uri="{FF2B5EF4-FFF2-40B4-BE49-F238E27FC236}">
                <a16:creationId xmlns:a16="http://schemas.microsoft.com/office/drawing/2014/main" id="{0929CDC2-F0C1-5300-E1D1-CFB1532FDD83}"/>
              </a:ext>
            </a:extLst>
          </p:cNvPr>
          <p:cNvSpPr>
            <a:spLocks noGrp="1"/>
          </p:cNvSpPr>
          <p:nvPr>
            <p:ph idx="1"/>
          </p:nvPr>
        </p:nvSpPr>
        <p:spPr>
          <a:xfrm>
            <a:off x="6243403" y="2052918"/>
            <a:ext cx="4845284" cy="4195481"/>
          </a:xfrm>
        </p:spPr>
        <p:txBody>
          <a:bodyPr/>
          <a:lstStyle/>
          <a:p>
            <a:r>
              <a:rPr lang="en-US" dirty="0"/>
              <a:t>Excess inventory is tied to low-demand products, increasing storage costs and tying up capital.”</a:t>
            </a:r>
          </a:p>
          <a:p>
            <a:r>
              <a:rPr lang="en-US" dirty="0"/>
              <a:t>Helps identify inefficiencies in purchasing decisions.</a:t>
            </a:r>
          </a:p>
          <a:p>
            <a:endParaRPr lang="en-US" dirty="0"/>
          </a:p>
        </p:txBody>
      </p:sp>
      <p:pic>
        <p:nvPicPr>
          <p:cNvPr id="4" name="Picture 3">
            <a:extLst>
              <a:ext uri="{FF2B5EF4-FFF2-40B4-BE49-F238E27FC236}">
                <a16:creationId xmlns:a16="http://schemas.microsoft.com/office/drawing/2014/main" id="{3CD185C7-91C2-14FC-C88A-06D3622FC8BB}"/>
              </a:ext>
            </a:extLst>
          </p:cNvPr>
          <p:cNvPicPr>
            <a:picLocks noChangeAspect="1"/>
          </p:cNvPicPr>
          <p:nvPr/>
        </p:nvPicPr>
        <p:blipFill>
          <a:blip r:embed="rId2"/>
          <a:stretch>
            <a:fillRect/>
          </a:stretch>
        </p:blipFill>
        <p:spPr>
          <a:xfrm>
            <a:off x="1103313" y="2052918"/>
            <a:ext cx="4900248" cy="4195481"/>
          </a:xfrm>
          <a:prstGeom prst="rect">
            <a:avLst/>
          </a:prstGeom>
        </p:spPr>
      </p:pic>
    </p:spTree>
    <p:extLst>
      <p:ext uri="{BB962C8B-B14F-4D97-AF65-F5344CB8AC3E}">
        <p14:creationId xmlns:p14="http://schemas.microsoft.com/office/powerpoint/2010/main" val="3629101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8A0C7-CC2F-CF49-F572-6743C2BA2630}"/>
              </a:ext>
            </a:extLst>
          </p:cNvPr>
          <p:cNvSpPr>
            <a:spLocks noGrp="1"/>
          </p:cNvSpPr>
          <p:nvPr>
            <p:ph type="title"/>
          </p:nvPr>
        </p:nvSpPr>
        <p:spPr/>
        <p:txBody>
          <a:bodyPr/>
          <a:lstStyle/>
          <a:p>
            <a:r>
              <a:rPr lang="en-US" b="1" dirty="0"/>
              <a:t>Daily Sales Trend</a:t>
            </a:r>
            <a:br>
              <a:rPr lang="en-US" b="1" dirty="0"/>
            </a:br>
            <a:endParaRPr lang="en-US" dirty="0"/>
          </a:p>
        </p:txBody>
      </p:sp>
      <p:sp>
        <p:nvSpPr>
          <p:cNvPr id="3" name="Content Placeholder 2">
            <a:extLst>
              <a:ext uri="{FF2B5EF4-FFF2-40B4-BE49-F238E27FC236}">
                <a16:creationId xmlns:a16="http://schemas.microsoft.com/office/drawing/2014/main" id="{F5C9475D-8768-A878-F09D-CB997CF1E9A7}"/>
              </a:ext>
            </a:extLst>
          </p:cNvPr>
          <p:cNvSpPr>
            <a:spLocks noGrp="1"/>
          </p:cNvSpPr>
          <p:nvPr>
            <p:ph idx="1"/>
          </p:nvPr>
        </p:nvSpPr>
        <p:spPr>
          <a:xfrm>
            <a:off x="8259580" y="2052918"/>
            <a:ext cx="3320322" cy="4195481"/>
          </a:xfrm>
        </p:spPr>
        <p:txBody>
          <a:bodyPr/>
          <a:lstStyle/>
          <a:p>
            <a:r>
              <a:rPr lang="en-US" dirty="0"/>
              <a:t>Sales peak during specific days, revealing clear customer purchasing patterns.</a:t>
            </a:r>
          </a:p>
        </p:txBody>
      </p:sp>
      <p:pic>
        <p:nvPicPr>
          <p:cNvPr id="7" name="Picture 6">
            <a:extLst>
              <a:ext uri="{FF2B5EF4-FFF2-40B4-BE49-F238E27FC236}">
                <a16:creationId xmlns:a16="http://schemas.microsoft.com/office/drawing/2014/main" id="{5ECFE9CA-61F6-EAE2-3DB3-33EDF24FABC9}"/>
              </a:ext>
            </a:extLst>
          </p:cNvPr>
          <p:cNvPicPr>
            <a:picLocks noChangeAspect="1"/>
          </p:cNvPicPr>
          <p:nvPr/>
        </p:nvPicPr>
        <p:blipFill>
          <a:blip r:embed="rId2"/>
          <a:stretch>
            <a:fillRect/>
          </a:stretch>
        </p:blipFill>
        <p:spPr>
          <a:xfrm>
            <a:off x="774944" y="2052918"/>
            <a:ext cx="7567081" cy="4195480"/>
          </a:xfrm>
          <a:prstGeom prst="rect">
            <a:avLst/>
          </a:prstGeom>
        </p:spPr>
      </p:pic>
    </p:spTree>
    <p:extLst>
      <p:ext uri="{BB962C8B-B14F-4D97-AF65-F5344CB8AC3E}">
        <p14:creationId xmlns:p14="http://schemas.microsoft.com/office/powerpoint/2010/main" val="2851699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8FC56-47CE-93EF-6458-87A28852C0DC}"/>
              </a:ext>
            </a:extLst>
          </p:cNvPr>
          <p:cNvSpPr>
            <a:spLocks noGrp="1"/>
          </p:cNvSpPr>
          <p:nvPr>
            <p:ph type="title"/>
          </p:nvPr>
        </p:nvSpPr>
        <p:spPr/>
        <p:txBody>
          <a:bodyPr/>
          <a:lstStyle/>
          <a:p>
            <a:r>
              <a:rPr lang="en-US" b="1" dirty="0"/>
              <a:t>Monthly Sales Trend</a:t>
            </a:r>
            <a:br>
              <a:rPr lang="en-US" b="1" dirty="0"/>
            </a:br>
            <a:endParaRPr lang="en-US" dirty="0"/>
          </a:p>
        </p:txBody>
      </p:sp>
      <p:sp>
        <p:nvSpPr>
          <p:cNvPr id="3" name="Content Placeholder 2">
            <a:extLst>
              <a:ext uri="{FF2B5EF4-FFF2-40B4-BE49-F238E27FC236}">
                <a16:creationId xmlns:a16="http://schemas.microsoft.com/office/drawing/2014/main" id="{84C03DA1-6EF9-1C6D-584B-56B7F4CB4590}"/>
              </a:ext>
            </a:extLst>
          </p:cNvPr>
          <p:cNvSpPr>
            <a:spLocks noGrp="1"/>
          </p:cNvSpPr>
          <p:nvPr>
            <p:ph idx="1"/>
          </p:nvPr>
        </p:nvSpPr>
        <p:spPr>
          <a:xfrm>
            <a:off x="7982262" y="2015732"/>
            <a:ext cx="3327816" cy="3563609"/>
          </a:xfrm>
        </p:spPr>
        <p:txBody>
          <a:bodyPr/>
          <a:lstStyle/>
          <a:p>
            <a:r>
              <a:rPr lang="en-US" dirty="0"/>
              <a:t>Sales show noticeable fluctuations across months, indicating changing demand trends</a:t>
            </a:r>
          </a:p>
        </p:txBody>
      </p:sp>
      <p:pic>
        <p:nvPicPr>
          <p:cNvPr id="4" name="Picture 3">
            <a:extLst>
              <a:ext uri="{FF2B5EF4-FFF2-40B4-BE49-F238E27FC236}">
                <a16:creationId xmlns:a16="http://schemas.microsoft.com/office/drawing/2014/main" id="{D803DC26-827F-AB99-C2CB-D5CA32667C94}"/>
              </a:ext>
            </a:extLst>
          </p:cNvPr>
          <p:cNvPicPr>
            <a:picLocks noChangeAspect="1"/>
          </p:cNvPicPr>
          <p:nvPr/>
        </p:nvPicPr>
        <p:blipFill>
          <a:blip r:embed="rId2"/>
          <a:stretch>
            <a:fillRect/>
          </a:stretch>
        </p:blipFill>
        <p:spPr>
          <a:xfrm>
            <a:off x="719528" y="2015732"/>
            <a:ext cx="6985416" cy="3563609"/>
          </a:xfrm>
          <a:prstGeom prst="rect">
            <a:avLst/>
          </a:prstGeom>
        </p:spPr>
      </p:pic>
    </p:spTree>
    <p:extLst>
      <p:ext uri="{BB962C8B-B14F-4D97-AF65-F5344CB8AC3E}">
        <p14:creationId xmlns:p14="http://schemas.microsoft.com/office/powerpoint/2010/main" val="2372254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69E05-9C90-6B5C-A558-E3B75AC36153}"/>
              </a:ext>
            </a:extLst>
          </p:cNvPr>
          <p:cNvSpPr>
            <a:spLocks noGrp="1"/>
          </p:cNvSpPr>
          <p:nvPr>
            <p:ph type="title"/>
          </p:nvPr>
        </p:nvSpPr>
        <p:spPr/>
        <p:txBody>
          <a:bodyPr/>
          <a:lstStyle/>
          <a:p>
            <a:r>
              <a:rPr lang="en-US" b="1" dirty="0"/>
              <a:t>Forecast</a:t>
            </a:r>
            <a:endParaRPr lang="en-US" dirty="0"/>
          </a:p>
        </p:txBody>
      </p:sp>
      <p:sp>
        <p:nvSpPr>
          <p:cNvPr id="3" name="Content Placeholder 2">
            <a:extLst>
              <a:ext uri="{FF2B5EF4-FFF2-40B4-BE49-F238E27FC236}">
                <a16:creationId xmlns:a16="http://schemas.microsoft.com/office/drawing/2014/main" id="{9F915081-C5DD-90F2-93C2-1C58C649E9BC}"/>
              </a:ext>
            </a:extLst>
          </p:cNvPr>
          <p:cNvSpPr>
            <a:spLocks noGrp="1"/>
          </p:cNvSpPr>
          <p:nvPr>
            <p:ph idx="1"/>
          </p:nvPr>
        </p:nvSpPr>
        <p:spPr>
          <a:xfrm>
            <a:off x="7067862" y="2052918"/>
            <a:ext cx="4699417" cy="4195481"/>
          </a:xfrm>
        </p:spPr>
        <p:txBody>
          <a:bodyPr/>
          <a:lstStyle/>
          <a:p>
            <a:r>
              <a:rPr lang="en-US" dirty="0"/>
              <a:t>Predicted sales trends help anticipate demand and prepare inventory in advance.</a:t>
            </a:r>
          </a:p>
          <a:p>
            <a:r>
              <a:rPr lang="en-US" dirty="0"/>
              <a:t>Scatter Points (Light Blue Dots)=Actual sales transactions</a:t>
            </a:r>
          </a:p>
          <a:p>
            <a:r>
              <a:rPr lang="en-US" dirty="0"/>
              <a:t>Dark Blue Line (Forecast Trend)= Predicted average sales (</a:t>
            </a:r>
            <a:r>
              <a:rPr lang="en-US" dirty="0" err="1"/>
              <a:t>yhat</a:t>
            </a:r>
            <a:r>
              <a:rPr lang="en-US" dirty="0"/>
              <a:t>)</a:t>
            </a:r>
          </a:p>
          <a:p>
            <a:r>
              <a:rPr lang="en-US" dirty="0"/>
              <a:t>Shaded Area (Confidence Interval)= Uncertainty range</a:t>
            </a:r>
          </a:p>
          <a:p>
            <a:endParaRPr lang="en-US" dirty="0"/>
          </a:p>
          <a:p>
            <a:endParaRPr lang="en-US" dirty="0"/>
          </a:p>
        </p:txBody>
      </p:sp>
      <p:pic>
        <p:nvPicPr>
          <p:cNvPr id="4" name="Picture 3">
            <a:extLst>
              <a:ext uri="{FF2B5EF4-FFF2-40B4-BE49-F238E27FC236}">
                <a16:creationId xmlns:a16="http://schemas.microsoft.com/office/drawing/2014/main" id="{B46C35D0-CAE5-1A36-216D-A24BB5EFA8C0}"/>
              </a:ext>
            </a:extLst>
          </p:cNvPr>
          <p:cNvPicPr>
            <a:picLocks noChangeAspect="1"/>
          </p:cNvPicPr>
          <p:nvPr/>
        </p:nvPicPr>
        <p:blipFill>
          <a:blip r:embed="rId2"/>
          <a:stretch>
            <a:fillRect/>
          </a:stretch>
        </p:blipFill>
        <p:spPr>
          <a:xfrm>
            <a:off x="1103312" y="2052918"/>
            <a:ext cx="5844629" cy="4195481"/>
          </a:xfrm>
          <a:prstGeom prst="rect">
            <a:avLst/>
          </a:prstGeom>
        </p:spPr>
      </p:pic>
    </p:spTree>
    <p:extLst>
      <p:ext uri="{BB962C8B-B14F-4D97-AF65-F5344CB8AC3E}">
        <p14:creationId xmlns:p14="http://schemas.microsoft.com/office/powerpoint/2010/main" val="588598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B0B2B-299F-F4B4-DA9D-287F272A9C2C}"/>
              </a:ext>
            </a:extLst>
          </p:cNvPr>
          <p:cNvSpPr>
            <a:spLocks noGrp="1"/>
          </p:cNvSpPr>
          <p:nvPr>
            <p:ph type="title"/>
          </p:nvPr>
        </p:nvSpPr>
        <p:spPr/>
        <p:txBody>
          <a:bodyPr/>
          <a:lstStyle/>
          <a:p>
            <a:r>
              <a:rPr lang="en-US" dirty="0"/>
              <a:t>Smart Alert (Days remaining)</a:t>
            </a:r>
            <a:br>
              <a:rPr lang="en-US" dirty="0"/>
            </a:br>
            <a:endParaRPr lang="en-US" dirty="0"/>
          </a:p>
        </p:txBody>
      </p:sp>
      <p:sp>
        <p:nvSpPr>
          <p:cNvPr id="6" name="Content Placeholder 5">
            <a:extLst>
              <a:ext uri="{FF2B5EF4-FFF2-40B4-BE49-F238E27FC236}">
                <a16:creationId xmlns:a16="http://schemas.microsoft.com/office/drawing/2014/main" id="{F6FBD4DA-EE1C-FA1C-BE98-F8E14BF6D246}"/>
              </a:ext>
            </a:extLst>
          </p:cNvPr>
          <p:cNvSpPr>
            <a:spLocks noGrp="1"/>
          </p:cNvSpPr>
          <p:nvPr>
            <p:ph idx="1"/>
          </p:nvPr>
        </p:nvSpPr>
        <p:spPr/>
        <p:txBody>
          <a:bodyPr/>
          <a:lstStyle/>
          <a:p>
            <a:pPr>
              <a:spcBef>
                <a:spcPts val="375"/>
              </a:spcBef>
              <a:buNone/>
            </a:pPr>
            <a:endParaRPr lang="en-US" dirty="0">
              <a:latin typeface="system-ui"/>
            </a:endParaRPr>
          </a:p>
          <a:p>
            <a:pPr>
              <a:buNone/>
            </a:pPr>
            <a:br>
              <a:rPr lang="en-US" dirty="0">
                <a:latin typeface="inherit"/>
              </a:rPr>
            </a:br>
            <a:endParaRPr lang="en-US" dirty="0">
              <a:latin typeface="inherit"/>
            </a:endParaRPr>
          </a:p>
          <a:p>
            <a:pPr>
              <a:buNone/>
            </a:pPr>
            <a:br>
              <a:rPr lang="en-US" dirty="0">
                <a:latin typeface="system-ui"/>
              </a:rPr>
            </a:br>
            <a:endParaRPr lang="en-US" dirty="0"/>
          </a:p>
        </p:txBody>
      </p:sp>
      <p:graphicFrame>
        <p:nvGraphicFramePr>
          <p:cNvPr id="7" name="Table 6">
            <a:extLst>
              <a:ext uri="{FF2B5EF4-FFF2-40B4-BE49-F238E27FC236}">
                <a16:creationId xmlns:a16="http://schemas.microsoft.com/office/drawing/2014/main" id="{164E941C-B909-ED7C-449F-F81FFA618F16}"/>
              </a:ext>
            </a:extLst>
          </p:cNvPr>
          <p:cNvGraphicFramePr>
            <a:graphicFrameLocks noGrp="1"/>
          </p:cNvGraphicFramePr>
          <p:nvPr>
            <p:extLst>
              <p:ext uri="{D42A27DB-BD31-4B8C-83A1-F6EECF244321}">
                <p14:modId xmlns:p14="http://schemas.microsoft.com/office/powerpoint/2010/main" val="1683216110"/>
              </p:ext>
            </p:extLst>
          </p:nvPr>
        </p:nvGraphicFramePr>
        <p:xfrm>
          <a:off x="646112" y="2006784"/>
          <a:ext cx="6586640" cy="4195763"/>
        </p:xfrm>
        <a:graphic>
          <a:graphicData uri="http://schemas.openxmlformats.org/drawingml/2006/table">
            <a:tbl>
              <a:tblPr/>
              <a:tblGrid>
                <a:gridCol w="1317328">
                  <a:extLst>
                    <a:ext uri="{9D8B030D-6E8A-4147-A177-3AD203B41FA5}">
                      <a16:colId xmlns:a16="http://schemas.microsoft.com/office/drawing/2014/main" val="1802193477"/>
                    </a:ext>
                  </a:extLst>
                </a:gridCol>
                <a:gridCol w="1317328">
                  <a:extLst>
                    <a:ext uri="{9D8B030D-6E8A-4147-A177-3AD203B41FA5}">
                      <a16:colId xmlns:a16="http://schemas.microsoft.com/office/drawing/2014/main" val="3510424269"/>
                    </a:ext>
                  </a:extLst>
                </a:gridCol>
                <a:gridCol w="1317328">
                  <a:extLst>
                    <a:ext uri="{9D8B030D-6E8A-4147-A177-3AD203B41FA5}">
                      <a16:colId xmlns:a16="http://schemas.microsoft.com/office/drawing/2014/main" val="1132996395"/>
                    </a:ext>
                  </a:extLst>
                </a:gridCol>
                <a:gridCol w="1317328">
                  <a:extLst>
                    <a:ext uri="{9D8B030D-6E8A-4147-A177-3AD203B41FA5}">
                      <a16:colId xmlns:a16="http://schemas.microsoft.com/office/drawing/2014/main" val="1816725209"/>
                    </a:ext>
                  </a:extLst>
                </a:gridCol>
                <a:gridCol w="1317328">
                  <a:extLst>
                    <a:ext uri="{9D8B030D-6E8A-4147-A177-3AD203B41FA5}">
                      <a16:colId xmlns:a16="http://schemas.microsoft.com/office/drawing/2014/main" val="209643164"/>
                    </a:ext>
                  </a:extLst>
                </a:gridCol>
              </a:tblGrid>
              <a:tr h="381433">
                <a:tc>
                  <a:txBody>
                    <a:bodyPr/>
                    <a:lstStyle/>
                    <a:p>
                      <a:pPr algn="r" fontAlgn="ctr">
                        <a:buNone/>
                      </a:pPr>
                      <a:r>
                        <a:rPr lang="en-US" sz="1100" b="1">
                          <a:effectLst/>
                        </a:rPr>
                        <a:t>Product</a:t>
                      </a:r>
                    </a:p>
                  </a:txBody>
                  <a:tcPr marL="54490" marR="54490" marT="27245" marB="27245" anchor="ctr">
                    <a:lnL>
                      <a:noFill/>
                    </a:lnL>
                    <a:lnR>
                      <a:noFill/>
                    </a:lnR>
                    <a:lnT>
                      <a:noFill/>
                    </a:lnT>
                    <a:lnB>
                      <a:noFill/>
                    </a:lnB>
                    <a:noFill/>
                  </a:tcPr>
                </a:tc>
                <a:tc>
                  <a:txBody>
                    <a:bodyPr/>
                    <a:lstStyle/>
                    <a:p>
                      <a:pPr algn="r" fontAlgn="ctr">
                        <a:buNone/>
                      </a:pPr>
                      <a:r>
                        <a:rPr lang="en-US" sz="1100" b="1">
                          <a:effectLst/>
                        </a:rPr>
                        <a:t>Current Stock</a:t>
                      </a:r>
                    </a:p>
                  </a:txBody>
                  <a:tcPr marL="54490" marR="54490" marT="27245" marB="27245" anchor="ctr">
                    <a:lnL>
                      <a:noFill/>
                    </a:lnL>
                    <a:lnR>
                      <a:noFill/>
                    </a:lnR>
                    <a:lnT>
                      <a:noFill/>
                    </a:lnT>
                    <a:lnB>
                      <a:noFill/>
                    </a:lnB>
                    <a:noFill/>
                  </a:tcPr>
                </a:tc>
                <a:tc>
                  <a:txBody>
                    <a:bodyPr/>
                    <a:lstStyle/>
                    <a:p>
                      <a:pPr algn="r" fontAlgn="ctr">
                        <a:buNone/>
                      </a:pPr>
                      <a:r>
                        <a:rPr lang="en-US" sz="1100" b="1">
                          <a:effectLst/>
                        </a:rPr>
                        <a:t>Days Remaining</a:t>
                      </a:r>
                    </a:p>
                  </a:txBody>
                  <a:tcPr marL="54490" marR="54490" marT="27245" marB="27245" anchor="ctr">
                    <a:lnL>
                      <a:noFill/>
                    </a:lnL>
                    <a:lnR>
                      <a:noFill/>
                    </a:lnR>
                    <a:lnT>
                      <a:noFill/>
                    </a:lnT>
                    <a:lnB>
                      <a:noFill/>
                    </a:lnB>
                    <a:noFill/>
                  </a:tcPr>
                </a:tc>
                <a:tc>
                  <a:txBody>
                    <a:bodyPr/>
                    <a:lstStyle/>
                    <a:p>
                      <a:pPr algn="r" fontAlgn="ctr">
                        <a:buNone/>
                      </a:pPr>
                      <a:r>
                        <a:rPr lang="en-US" sz="1100" b="1">
                          <a:effectLst/>
                        </a:rPr>
                        <a:t>SMART ALERT</a:t>
                      </a:r>
                    </a:p>
                  </a:txBody>
                  <a:tcPr marL="54490" marR="54490" marT="27245" marB="27245" anchor="ctr">
                    <a:lnL>
                      <a:noFill/>
                    </a:lnL>
                    <a:lnR>
                      <a:noFill/>
                    </a:lnR>
                    <a:lnT>
                      <a:noFill/>
                    </a:lnT>
                    <a:lnB>
                      <a:noFill/>
                    </a:lnB>
                    <a:noFill/>
                  </a:tcPr>
                </a:tc>
                <a:tc>
                  <a:txBody>
                    <a:bodyPr/>
                    <a:lstStyle/>
                    <a:p>
                      <a:endParaRPr lang="en-US" sz="1100"/>
                    </a:p>
                  </a:txBody>
                  <a:tcPr marL="54490" marR="54490" marT="27245" marB="27245">
                    <a:lnL>
                      <a:noFill/>
                    </a:lnL>
                  </a:tcPr>
                </a:tc>
                <a:extLst>
                  <a:ext uri="{0D108BD9-81ED-4DB2-BD59-A6C34878D82A}">
                    <a16:rowId xmlns:a16="http://schemas.microsoft.com/office/drawing/2014/main" val="1888919857"/>
                  </a:ext>
                </a:extLst>
              </a:tr>
              <a:tr h="381433">
                <a:tc>
                  <a:txBody>
                    <a:bodyPr/>
                    <a:lstStyle/>
                    <a:p>
                      <a:pPr algn="r" fontAlgn="ctr">
                        <a:buNone/>
                      </a:pPr>
                      <a:r>
                        <a:rPr lang="en-US" sz="1100" b="1">
                          <a:effectLst/>
                        </a:rPr>
                        <a:t>0</a:t>
                      </a:r>
                    </a:p>
                  </a:txBody>
                  <a:tcPr marL="54490" marR="54490" marT="27245" marB="27245" anchor="ctr">
                    <a:lnL>
                      <a:noFill/>
                    </a:lnL>
                    <a:lnR>
                      <a:noFill/>
                    </a:lnR>
                    <a:lnT>
                      <a:noFill/>
                    </a:lnT>
                    <a:lnB>
                      <a:noFill/>
                    </a:lnB>
                    <a:noFill/>
                  </a:tcPr>
                </a:tc>
                <a:tc>
                  <a:txBody>
                    <a:bodyPr/>
                    <a:lstStyle/>
                    <a:p>
                      <a:pPr algn="r" fontAlgn="ctr">
                        <a:buNone/>
                      </a:pPr>
                      <a:r>
                        <a:rPr lang="en-US" sz="1100">
                          <a:effectLst/>
                        </a:rPr>
                        <a:t>Running Shoes</a:t>
                      </a:r>
                    </a:p>
                  </a:txBody>
                  <a:tcPr marL="54490" marR="54490" marT="27245" marB="27245" anchor="ctr">
                    <a:lnL>
                      <a:noFill/>
                    </a:lnL>
                    <a:lnR>
                      <a:noFill/>
                    </a:lnR>
                    <a:lnT>
                      <a:noFill/>
                    </a:lnT>
                    <a:lnB>
                      <a:noFill/>
                    </a:lnB>
                    <a:noFill/>
                  </a:tcPr>
                </a:tc>
                <a:tc>
                  <a:txBody>
                    <a:bodyPr/>
                    <a:lstStyle/>
                    <a:p>
                      <a:pPr algn="r" fontAlgn="ctr">
                        <a:buNone/>
                      </a:pPr>
                      <a:r>
                        <a:rPr lang="en-US" sz="1100">
                          <a:effectLst/>
                        </a:rPr>
                        <a:t>-1</a:t>
                      </a:r>
                    </a:p>
                  </a:txBody>
                  <a:tcPr marL="54490" marR="54490" marT="27245" marB="27245" anchor="ctr">
                    <a:lnL>
                      <a:noFill/>
                    </a:lnL>
                    <a:lnR>
                      <a:noFill/>
                    </a:lnR>
                    <a:lnT>
                      <a:noFill/>
                    </a:lnT>
                    <a:lnB>
                      <a:noFill/>
                    </a:lnB>
                    <a:noFill/>
                  </a:tcPr>
                </a:tc>
                <a:tc>
                  <a:txBody>
                    <a:bodyPr/>
                    <a:lstStyle/>
                    <a:p>
                      <a:pPr algn="r" fontAlgn="ctr">
                        <a:buNone/>
                      </a:pPr>
                      <a:r>
                        <a:rPr lang="en-US" sz="1100">
                          <a:effectLst/>
                        </a:rPr>
                        <a:t>-0.169154</a:t>
                      </a:r>
                    </a:p>
                  </a:txBody>
                  <a:tcPr marL="54490" marR="54490" marT="27245" marB="27245" anchor="ctr">
                    <a:lnL>
                      <a:noFill/>
                    </a:lnL>
                    <a:lnR>
                      <a:noFill/>
                    </a:lnR>
                    <a:lnT>
                      <a:noFill/>
                    </a:lnT>
                    <a:lnB>
                      <a:noFill/>
                    </a:lnB>
                    <a:noFill/>
                  </a:tcPr>
                </a:tc>
                <a:tc>
                  <a:txBody>
                    <a:bodyPr/>
                    <a:lstStyle/>
                    <a:p>
                      <a:pPr algn="r" fontAlgn="ctr">
                        <a:buNone/>
                      </a:pPr>
                      <a:r>
                        <a:rPr lang="en-US" sz="1100">
                          <a:effectLst/>
                        </a:rPr>
                        <a:t>URGENT RESTOCK</a:t>
                      </a:r>
                    </a:p>
                  </a:txBody>
                  <a:tcPr marL="54490" marR="54490" marT="27245" marB="27245" anchor="ctr">
                    <a:lnL>
                      <a:noFill/>
                    </a:lnL>
                    <a:lnR>
                      <a:noFill/>
                    </a:lnR>
                    <a:lnB>
                      <a:noFill/>
                    </a:lnB>
                    <a:noFill/>
                  </a:tcPr>
                </a:tc>
                <a:extLst>
                  <a:ext uri="{0D108BD9-81ED-4DB2-BD59-A6C34878D82A}">
                    <a16:rowId xmlns:a16="http://schemas.microsoft.com/office/drawing/2014/main" val="1718706874"/>
                  </a:ext>
                </a:extLst>
              </a:tr>
              <a:tr h="381433">
                <a:tc>
                  <a:txBody>
                    <a:bodyPr/>
                    <a:lstStyle/>
                    <a:p>
                      <a:pPr algn="r" fontAlgn="ctr">
                        <a:buNone/>
                      </a:pPr>
                      <a:r>
                        <a:rPr lang="en-US" sz="1100" b="1">
                          <a:effectLst/>
                        </a:rPr>
                        <a:t>1</a:t>
                      </a:r>
                    </a:p>
                  </a:txBody>
                  <a:tcPr marL="54490" marR="54490" marT="27245" marB="27245" anchor="ctr">
                    <a:lnL>
                      <a:noFill/>
                    </a:lnL>
                    <a:lnR>
                      <a:noFill/>
                    </a:lnR>
                    <a:lnT>
                      <a:noFill/>
                    </a:lnT>
                    <a:lnB>
                      <a:noFill/>
                    </a:lnB>
                    <a:noFill/>
                  </a:tcPr>
                </a:tc>
                <a:tc>
                  <a:txBody>
                    <a:bodyPr/>
                    <a:lstStyle/>
                    <a:p>
                      <a:pPr algn="r" fontAlgn="ctr">
                        <a:buNone/>
                      </a:pPr>
                      <a:r>
                        <a:rPr lang="en-US" sz="1100">
                          <a:effectLst/>
                        </a:rPr>
                        <a:t>Chocolate</a:t>
                      </a:r>
                    </a:p>
                  </a:txBody>
                  <a:tcPr marL="54490" marR="54490" marT="27245" marB="27245" anchor="ctr">
                    <a:lnL>
                      <a:noFill/>
                    </a:lnL>
                    <a:lnR>
                      <a:noFill/>
                    </a:lnR>
                    <a:lnT>
                      <a:noFill/>
                    </a:lnT>
                    <a:lnB>
                      <a:noFill/>
                    </a:lnB>
                    <a:noFill/>
                  </a:tcPr>
                </a:tc>
                <a:tc>
                  <a:txBody>
                    <a:bodyPr/>
                    <a:lstStyle/>
                    <a:p>
                      <a:pPr algn="r" fontAlgn="ctr">
                        <a:buNone/>
                      </a:pPr>
                      <a:r>
                        <a:rPr lang="en-US" sz="1100">
                          <a:effectLst/>
                        </a:rPr>
                        <a:t>0</a:t>
                      </a:r>
                    </a:p>
                  </a:txBody>
                  <a:tcPr marL="54490" marR="54490" marT="27245" marB="27245" anchor="ctr">
                    <a:lnL>
                      <a:noFill/>
                    </a:lnL>
                    <a:lnR>
                      <a:noFill/>
                    </a:lnR>
                    <a:lnT>
                      <a:noFill/>
                    </a:lnT>
                    <a:lnB>
                      <a:noFill/>
                    </a:lnB>
                    <a:noFill/>
                  </a:tcPr>
                </a:tc>
                <a:tc>
                  <a:txBody>
                    <a:bodyPr/>
                    <a:lstStyle/>
                    <a:p>
                      <a:pPr algn="r" fontAlgn="ctr">
                        <a:buNone/>
                      </a:pPr>
                      <a:r>
                        <a:rPr lang="en-US" sz="1100">
                          <a:effectLst/>
                        </a:rPr>
                        <a:t>0.000000</a:t>
                      </a:r>
                    </a:p>
                  </a:txBody>
                  <a:tcPr marL="54490" marR="54490" marT="27245" marB="27245" anchor="ctr">
                    <a:lnL>
                      <a:noFill/>
                    </a:lnL>
                    <a:lnR>
                      <a:noFill/>
                    </a:lnR>
                    <a:lnT>
                      <a:noFill/>
                    </a:lnT>
                    <a:lnB>
                      <a:noFill/>
                    </a:lnB>
                    <a:noFill/>
                  </a:tcPr>
                </a:tc>
                <a:tc>
                  <a:txBody>
                    <a:bodyPr/>
                    <a:lstStyle/>
                    <a:p>
                      <a:pPr algn="r" fontAlgn="ctr">
                        <a:buNone/>
                      </a:pPr>
                      <a:r>
                        <a:rPr lang="en-US" sz="1100">
                          <a:effectLst/>
                        </a:rPr>
                        <a:t>URGENT RESTOCK</a:t>
                      </a:r>
                    </a:p>
                  </a:txBody>
                  <a:tcPr marL="54490" marR="54490" marT="27245" marB="27245" anchor="ctr">
                    <a:lnL>
                      <a:noFill/>
                    </a:lnL>
                    <a:lnR>
                      <a:noFill/>
                    </a:lnR>
                    <a:lnT>
                      <a:noFill/>
                    </a:lnT>
                    <a:lnB>
                      <a:noFill/>
                    </a:lnB>
                    <a:noFill/>
                  </a:tcPr>
                </a:tc>
                <a:extLst>
                  <a:ext uri="{0D108BD9-81ED-4DB2-BD59-A6C34878D82A}">
                    <a16:rowId xmlns:a16="http://schemas.microsoft.com/office/drawing/2014/main" val="4044030011"/>
                  </a:ext>
                </a:extLst>
              </a:tr>
              <a:tr h="381433">
                <a:tc>
                  <a:txBody>
                    <a:bodyPr/>
                    <a:lstStyle/>
                    <a:p>
                      <a:pPr algn="r" fontAlgn="ctr">
                        <a:buNone/>
                      </a:pPr>
                      <a:r>
                        <a:rPr lang="en-US" sz="1100" b="1">
                          <a:effectLst/>
                        </a:rPr>
                        <a:t>2</a:t>
                      </a:r>
                    </a:p>
                  </a:txBody>
                  <a:tcPr marL="54490" marR="54490" marT="27245" marB="27245" anchor="ctr">
                    <a:lnL>
                      <a:noFill/>
                    </a:lnL>
                    <a:lnR>
                      <a:noFill/>
                    </a:lnR>
                    <a:lnT>
                      <a:noFill/>
                    </a:lnT>
                    <a:lnB>
                      <a:noFill/>
                    </a:lnB>
                    <a:noFill/>
                  </a:tcPr>
                </a:tc>
                <a:tc>
                  <a:txBody>
                    <a:bodyPr/>
                    <a:lstStyle/>
                    <a:p>
                      <a:pPr algn="r" fontAlgn="ctr">
                        <a:buNone/>
                      </a:pPr>
                      <a:r>
                        <a:rPr lang="en-US" sz="1100">
                          <a:effectLst/>
                        </a:rPr>
                        <a:t>Power Bank</a:t>
                      </a:r>
                    </a:p>
                  </a:txBody>
                  <a:tcPr marL="54490" marR="54490" marT="27245" marB="27245" anchor="ctr">
                    <a:lnL>
                      <a:noFill/>
                    </a:lnL>
                    <a:lnR>
                      <a:noFill/>
                    </a:lnR>
                    <a:lnT>
                      <a:noFill/>
                    </a:lnT>
                    <a:lnB>
                      <a:noFill/>
                    </a:lnB>
                    <a:noFill/>
                  </a:tcPr>
                </a:tc>
                <a:tc>
                  <a:txBody>
                    <a:bodyPr/>
                    <a:lstStyle/>
                    <a:p>
                      <a:pPr algn="r" fontAlgn="ctr">
                        <a:buNone/>
                      </a:pPr>
                      <a:r>
                        <a:rPr lang="en-US" sz="1100">
                          <a:effectLst/>
                        </a:rPr>
                        <a:t>1</a:t>
                      </a:r>
                    </a:p>
                  </a:txBody>
                  <a:tcPr marL="54490" marR="54490" marT="27245" marB="27245" anchor="ctr">
                    <a:lnL>
                      <a:noFill/>
                    </a:lnL>
                    <a:lnR>
                      <a:noFill/>
                    </a:lnR>
                    <a:lnT>
                      <a:noFill/>
                    </a:lnT>
                    <a:lnB>
                      <a:noFill/>
                    </a:lnB>
                    <a:noFill/>
                  </a:tcPr>
                </a:tc>
                <a:tc>
                  <a:txBody>
                    <a:bodyPr/>
                    <a:lstStyle/>
                    <a:p>
                      <a:pPr algn="r" fontAlgn="ctr">
                        <a:buNone/>
                      </a:pPr>
                      <a:r>
                        <a:rPr lang="en-US" sz="1100">
                          <a:effectLst/>
                        </a:rPr>
                        <a:t>0.170854</a:t>
                      </a:r>
                    </a:p>
                  </a:txBody>
                  <a:tcPr marL="54490" marR="54490" marT="27245" marB="27245" anchor="ctr">
                    <a:lnL>
                      <a:noFill/>
                    </a:lnL>
                    <a:lnR>
                      <a:noFill/>
                    </a:lnR>
                    <a:lnT>
                      <a:noFill/>
                    </a:lnT>
                    <a:lnB>
                      <a:noFill/>
                    </a:lnB>
                    <a:noFill/>
                  </a:tcPr>
                </a:tc>
                <a:tc>
                  <a:txBody>
                    <a:bodyPr/>
                    <a:lstStyle/>
                    <a:p>
                      <a:pPr algn="r" fontAlgn="ctr">
                        <a:buNone/>
                      </a:pPr>
                      <a:r>
                        <a:rPr lang="en-US" sz="1100">
                          <a:effectLst/>
                        </a:rPr>
                        <a:t>URGENT RESTOCK</a:t>
                      </a:r>
                    </a:p>
                  </a:txBody>
                  <a:tcPr marL="54490" marR="54490" marT="27245" marB="27245" anchor="ctr">
                    <a:lnL>
                      <a:noFill/>
                    </a:lnL>
                    <a:lnR>
                      <a:noFill/>
                    </a:lnR>
                    <a:lnT>
                      <a:noFill/>
                    </a:lnT>
                    <a:lnB>
                      <a:noFill/>
                    </a:lnB>
                    <a:noFill/>
                  </a:tcPr>
                </a:tc>
                <a:extLst>
                  <a:ext uri="{0D108BD9-81ED-4DB2-BD59-A6C34878D82A}">
                    <a16:rowId xmlns:a16="http://schemas.microsoft.com/office/drawing/2014/main" val="2373464452"/>
                  </a:ext>
                </a:extLst>
              </a:tr>
              <a:tr h="381433">
                <a:tc>
                  <a:txBody>
                    <a:bodyPr/>
                    <a:lstStyle/>
                    <a:p>
                      <a:pPr algn="r" fontAlgn="ctr">
                        <a:buNone/>
                      </a:pPr>
                      <a:r>
                        <a:rPr lang="en-US" sz="1100" b="1">
                          <a:effectLst/>
                        </a:rPr>
                        <a:t>3</a:t>
                      </a:r>
                    </a:p>
                  </a:txBody>
                  <a:tcPr marL="54490" marR="54490" marT="27245" marB="27245" anchor="ctr">
                    <a:lnL>
                      <a:noFill/>
                    </a:lnL>
                    <a:lnR>
                      <a:noFill/>
                    </a:lnR>
                    <a:lnT>
                      <a:noFill/>
                    </a:lnT>
                    <a:lnB>
                      <a:noFill/>
                    </a:lnB>
                    <a:noFill/>
                  </a:tcPr>
                </a:tc>
                <a:tc>
                  <a:txBody>
                    <a:bodyPr/>
                    <a:lstStyle/>
                    <a:p>
                      <a:pPr algn="r" fontAlgn="ctr">
                        <a:buNone/>
                      </a:pPr>
                      <a:r>
                        <a:rPr lang="en-US" sz="1100">
                          <a:effectLst/>
                        </a:rPr>
                        <a:t>Jersey</a:t>
                      </a:r>
                    </a:p>
                  </a:txBody>
                  <a:tcPr marL="54490" marR="54490" marT="27245" marB="27245" anchor="ctr">
                    <a:lnL>
                      <a:noFill/>
                    </a:lnL>
                    <a:lnR>
                      <a:noFill/>
                    </a:lnR>
                    <a:lnT>
                      <a:noFill/>
                    </a:lnT>
                    <a:lnB>
                      <a:noFill/>
                    </a:lnB>
                    <a:noFill/>
                  </a:tcPr>
                </a:tc>
                <a:tc>
                  <a:txBody>
                    <a:bodyPr/>
                    <a:lstStyle/>
                    <a:p>
                      <a:pPr algn="r" fontAlgn="ctr">
                        <a:buNone/>
                      </a:pPr>
                      <a:r>
                        <a:rPr lang="en-US" sz="1100">
                          <a:effectLst/>
                        </a:rPr>
                        <a:t>2</a:t>
                      </a:r>
                    </a:p>
                  </a:txBody>
                  <a:tcPr marL="54490" marR="54490" marT="27245" marB="27245" anchor="ctr">
                    <a:lnL>
                      <a:noFill/>
                    </a:lnL>
                    <a:lnR>
                      <a:noFill/>
                    </a:lnR>
                    <a:lnT>
                      <a:noFill/>
                    </a:lnT>
                    <a:lnB>
                      <a:noFill/>
                    </a:lnB>
                    <a:noFill/>
                  </a:tcPr>
                </a:tc>
                <a:tc>
                  <a:txBody>
                    <a:bodyPr/>
                    <a:lstStyle/>
                    <a:p>
                      <a:pPr algn="r" fontAlgn="ctr">
                        <a:buNone/>
                      </a:pPr>
                      <a:r>
                        <a:rPr lang="en-US" sz="1100">
                          <a:effectLst/>
                        </a:rPr>
                        <a:t>0.330275</a:t>
                      </a:r>
                    </a:p>
                  </a:txBody>
                  <a:tcPr marL="54490" marR="54490" marT="27245" marB="27245" anchor="ctr">
                    <a:lnL>
                      <a:noFill/>
                    </a:lnL>
                    <a:lnR>
                      <a:noFill/>
                    </a:lnR>
                    <a:lnT>
                      <a:noFill/>
                    </a:lnT>
                    <a:lnB>
                      <a:noFill/>
                    </a:lnB>
                    <a:noFill/>
                  </a:tcPr>
                </a:tc>
                <a:tc>
                  <a:txBody>
                    <a:bodyPr/>
                    <a:lstStyle/>
                    <a:p>
                      <a:pPr algn="r" fontAlgn="ctr">
                        <a:buNone/>
                      </a:pPr>
                      <a:r>
                        <a:rPr lang="en-US" sz="1100">
                          <a:effectLst/>
                        </a:rPr>
                        <a:t>URGENT RESTOCK</a:t>
                      </a:r>
                    </a:p>
                  </a:txBody>
                  <a:tcPr marL="54490" marR="54490" marT="27245" marB="27245" anchor="ctr">
                    <a:lnL>
                      <a:noFill/>
                    </a:lnL>
                    <a:lnR>
                      <a:noFill/>
                    </a:lnR>
                    <a:lnT>
                      <a:noFill/>
                    </a:lnT>
                    <a:lnB>
                      <a:noFill/>
                    </a:lnB>
                    <a:noFill/>
                  </a:tcPr>
                </a:tc>
                <a:extLst>
                  <a:ext uri="{0D108BD9-81ED-4DB2-BD59-A6C34878D82A}">
                    <a16:rowId xmlns:a16="http://schemas.microsoft.com/office/drawing/2014/main" val="659314295"/>
                  </a:ext>
                </a:extLst>
              </a:tr>
              <a:tr h="381433">
                <a:tc>
                  <a:txBody>
                    <a:bodyPr/>
                    <a:lstStyle/>
                    <a:p>
                      <a:pPr algn="r" fontAlgn="ctr">
                        <a:buNone/>
                      </a:pPr>
                      <a:r>
                        <a:rPr lang="en-US" sz="1100" b="1" dirty="0">
                          <a:effectLst/>
                        </a:rPr>
                        <a:t>4</a:t>
                      </a:r>
                    </a:p>
                  </a:txBody>
                  <a:tcPr marL="54490" marR="54490" marT="27245" marB="27245" anchor="ctr">
                    <a:lnL>
                      <a:noFill/>
                    </a:lnL>
                    <a:lnR>
                      <a:noFill/>
                    </a:lnR>
                    <a:lnT>
                      <a:noFill/>
                    </a:lnT>
                    <a:lnB>
                      <a:noFill/>
                    </a:lnB>
                    <a:noFill/>
                  </a:tcPr>
                </a:tc>
                <a:tc>
                  <a:txBody>
                    <a:bodyPr/>
                    <a:lstStyle/>
                    <a:p>
                      <a:pPr algn="r" fontAlgn="ctr">
                        <a:buNone/>
                      </a:pPr>
                      <a:r>
                        <a:rPr lang="en-US" sz="1100">
                          <a:effectLst/>
                        </a:rPr>
                        <a:t>Paracetamol</a:t>
                      </a:r>
                    </a:p>
                  </a:txBody>
                  <a:tcPr marL="54490" marR="54490" marT="27245" marB="27245" anchor="ctr">
                    <a:lnL>
                      <a:noFill/>
                    </a:lnL>
                    <a:lnR>
                      <a:noFill/>
                    </a:lnR>
                    <a:lnT>
                      <a:noFill/>
                    </a:lnT>
                    <a:lnB>
                      <a:noFill/>
                    </a:lnB>
                    <a:noFill/>
                  </a:tcPr>
                </a:tc>
                <a:tc>
                  <a:txBody>
                    <a:bodyPr/>
                    <a:lstStyle/>
                    <a:p>
                      <a:pPr algn="r" fontAlgn="ctr">
                        <a:buNone/>
                      </a:pPr>
                      <a:r>
                        <a:rPr lang="en-US" sz="1100">
                          <a:effectLst/>
                        </a:rPr>
                        <a:t>6</a:t>
                      </a:r>
                    </a:p>
                  </a:txBody>
                  <a:tcPr marL="54490" marR="54490" marT="27245" marB="27245" anchor="ctr">
                    <a:lnL>
                      <a:noFill/>
                    </a:lnL>
                    <a:lnR>
                      <a:noFill/>
                    </a:lnR>
                    <a:lnT>
                      <a:noFill/>
                    </a:lnT>
                    <a:lnB>
                      <a:noFill/>
                    </a:lnB>
                    <a:noFill/>
                  </a:tcPr>
                </a:tc>
                <a:tc>
                  <a:txBody>
                    <a:bodyPr/>
                    <a:lstStyle/>
                    <a:p>
                      <a:pPr algn="r" fontAlgn="ctr">
                        <a:buNone/>
                      </a:pPr>
                      <a:r>
                        <a:rPr lang="en-US" sz="1100">
                          <a:effectLst/>
                        </a:rPr>
                        <a:t>0.927835</a:t>
                      </a:r>
                    </a:p>
                  </a:txBody>
                  <a:tcPr marL="54490" marR="54490" marT="27245" marB="27245" anchor="ctr">
                    <a:lnL>
                      <a:noFill/>
                    </a:lnL>
                    <a:lnR>
                      <a:noFill/>
                    </a:lnR>
                    <a:lnT>
                      <a:noFill/>
                    </a:lnT>
                    <a:lnB>
                      <a:noFill/>
                    </a:lnB>
                    <a:noFill/>
                  </a:tcPr>
                </a:tc>
                <a:tc>
                  <a:txBody>
                    <a:bodyPr/>
                    <a:lstStyle/>
                    <a:p>
                      <a:pPr algn="r" fontAlgn="ctr">
                        <a:buNone/>
                      </a:pPr>
                      <a:r>
                        <a:rPr lang="en-US" sz="1100">
                          <a:effectLst/>
                        </a:rPr>
                        <a:t>URGENT RESTOCK</a:t>
                      </a:r>
                    </a:p>
                  </a:txBody>
                  <a:tcPr marL="54490" marR="54490" marT="27245" marB="27245" anchor="ctr">
                    <a:lnL>
                      <a:noFill/>
                    </a:lnL>
                    <a:lnR>
                      <a:noFill/>
                    </a:lnR>
                    <a:lnT>
                      <a:noFill/>
                    </a:lnT>
                    <a:lnB>
                      <a:noFill/>
                    </a:lnB>
                    <a:noFill/>
                  </a:tcPr>
                </a:tc>
                <a:extLst>
                  <a:ext uri="{0D108BD9-81ED-4DB2-BD59-A6C34878D82A}">
                    <a16:rowId xmlns:a16="http://schemas.microsoft.com/office/drawing/2014/main" val="3775302791"/>
                  </a:ext>
                </a:extLst>
              </a:tr>
              <a:tr h="381433">
                <a:tc>
                  <a:txBody>
                    <a:bodyPr/>
                    <a:lstStyle/>
                    <a:p>
                      <a:pPr algn="r" fontAlgn="ctr">
                        <a:buNone/>
                      </a:pPr>
                      <a:r>
                        <a:rPr lang="en-US" sz="1100" b="1">
                          <a:effectLst/>
                        </a:rPr>
                        <a:t>5</a:t>
                      </a:r>
                    </a:p>
                  </a:txBody>
                  <a:tcPr marL="54490" marR="54490" marT="27245" marB="27245" anchor="ctr">
                    <a:lnL>
                      <a:noFill/>
                    </a:lnL>
                    <a:lnR>
                      <a:noFill/>
                    </a:lnR>
                    <a:lnT>
                      <a:noFill/>
                    </a:lnT>
                    <a:lnB>
                      <a:noFill/>
                    </a:lnB>
                    <a:noFill/>
                  </a:tcPr>
                </a:tc>
                <a:tc>
                  <a:txBody>
                    <a:bodyPr/>
                    <a:lstStyle/>
                    <a:p>
                      <a:pPr algn="r" fontAlgn="ctr">
                        <a:buNone/>
                      </a:pPr>
                      <a:r>
                        <a:rPr lang="en-US" sz="1100">
                          <a:effectLst/>
                        </a:rPr>
                        <a:t>Pain Relief Balm</a:t>
                      </a:r>
                    </a:p>
                  </a:txBody>
                  <a:tcPr marL="54490" marR="54490" marT="27245" marB="27245" anchor="ctr">
                    <a:lnL>
                      <a:noFill/>
                    </a:lnL>
                    <a:lnR>
                      <a:noFill/>
                    </a:lnR>
                    <a:lnT>
                      <a:noFill/>
                    </a:lnT>
                    <a:lnB>
                      <a:noFill/>
                    </a:lnB>
                    <a:noFill/>
                  </a:tcPr>
                </a:tc>
                <a:tc>
                  <a:txBody>
                    <a:bodyPr/>
                    <a:lstStyle/>
                    <a:p>
                      <a:pPr algn="r" fontAlgn="ctr">
                        <a:buNone/>
                      </a:pPr>
                      <a:r>
                        <a:rPr lang="en-US" sz="1100">
                          <a:effectLst/>
                        </a:rPr>
                        <a:t>8</a:t>
                      </a:r>
                    </a:p>
                  </a:txBody>
                  <a:tcPr marL="54490" marR="54490" marT="27245" marB="27245" anchor="ctr">
                    <a:lnL>
                      <a:noFill/>
                    </a:lnL>
                    <a:lnR>
                      <a:noFill/>
                    </a:lnR>
                    <a:lnT>
                      <a:noFill/>
                    </a:lnT>
                    <a:lnB>
                      <a:noFill/>
                    </a:lnB>
                    <a:noFill/>
                  </a:tcPr>
                </a:tc>
                <a:tc>
                  <a:txBody>
                    <a:bodyPr/>
                    <a:lstStyle/>
                    <a:p>
                      <a:pPr algn="r" fontAlgn="ctr">
                        <a:buNone/>
                      </a:pPr>
                      <a:r>
                        <a:rPr lang="en-US" sz="1100">
                          <a:effectLst/>
                        </a:rPr>
                        <a:t>1.291667</a:t>
                      </a:r>
                    </a:p>
                  </a:txBody>
                  <a:tcPr marL="54490" marR="54490" marT="27245" marB="27245" anchor="ctr">
                    <a:lnL>
                      <a:noFill/>
                    </a:lnL>
                    <a:lnR>
                      <a:noFill/>
                    </a:lnR>
                    <a:lnT>
                      <a:noFill/>
                    </a:lnT>
                    <a:lnB>
                      <a:noFill/>
                    </a:lnB>
                    <a:noFill/>
                  </a:tcPr>
                </a:tc>
                <a:tc>
                  <a:txBody>
                    <a:bodyPr/>
                    <a:lstStyle/>
                    <a:p>
                      <a:pPr algn="r" fontAlgn="ctr">
                        <a:buNone/>
                      </a:pPr>
                      <a:r>
                        <a:rPr lang="en-US" sz="1100">
                          <a:effectLst/>
                        </a:rPr>
                        <a:t>URGENT RESTOCK</a:t>
                      </a:r>
                    </a:p>
                  </a:txBody>
                  <a:tcPr marL="54490" marR="54490" marT="27245" marB="27245" anchor="ctr">
                    <a:lnL>
                      <a:noFill/>
                    </a:lnL>
                    <a:lnR>
                      <a:noFill/>
                    </a:lnR>
                    <a:lnT>
                      <a:noFill/>
                    </a:lnT>
                    <a:lnB>
                      <a:noFill/>
                    </a:lnB>
                    <a:noFill/>
                  </a:tcPr>
                </a:tc>
                <a:extLst>
                  <a:ext uri="{0D108BD9-81ED-4DB2-BD59-A6C34878D82A}">
                    <a16:rowId xmlns:a16="http://schemas.microsoft.com/office/drawing/2014/main" val="3573614905"/>
                  </a:ext>
                </a:extLst>
              </a:tr>
              <a:tr h="381433">
                <a:tc>
                  <a:txBody>
                    <a:bodyPr/>
                    <a:lstStyle/>
                    <a:p>
                      <a:pPr algn="r" fontAlgn="ctr">
                        <a:buNone/>
                      </a:pPr>
                      <a:r>
                        <a:rPr lang="en-US" sz="1100" b="1">
                          <a:effectLst/>
                        </a:rPr>
                        <a:t>6</a:t>
                      </a:r>
                    </a:p>
                  </a:txBody>
                  <a:tcPr marL="54490" marR="54490" marT="27245" marB="27245" anchor="ctr">
                    <a:lnL>
                      <a:noFill/>
                    </a:lnL>
                    <a:lnR>
                      <a:noFill/>
                    </a:lnR>
                    <a:lnT>
                      <a:noFill/>
                    </a:lnT>
                    <a:lnB>
                      <a:noFill/>
                    </a:lnB>
                    <a:noFill/>
                  </a:tcPr>
                </a:tc>
                <a:tc>
                  <a:txBody>
                    <a:bodyPr/>
                    <a:lstStyle/>
                    <a:p>
                      <a:pPr algn="r" fontAlgn="ctr">
                        <a:buNone/>
                      </a:pPr>
                      <a:r>
                        <a:rPr lang="en-US" sz="1100">
                          <a:effectLst/>
                        </a:rPr>
                        <a:t>LED Bulb</a:t>
                      </a:r>
                    </a:p>
                  </a:txBody>
                  <a:tcPr marL="54490" marR="54490" marT="27245" marB="27245" anchor="ctr">
                    <a:lnL>
                      <a:noFill/>
                    </a:lnL>
                    <a:lnR>
                      <a:noFill/>
                    </a:lnR>
                    <a:lnT>
                      <a:noFill/>
                    </a:lnT>
                    <a:lnB>
                      <a:noFill/>
                    </a:lnB>
                    <a:noFill/>
                  </a:tcPr>
                </a:tc>
                <a:tc>
                  <a:txBody>
                    <a:bodyPr/>
                    <a:lstStyle/>
                    <a:p>
                      <a:pPr algn="r" fontAlgn="ctr">
                        <a:buNone/>
                      </a:pPr>
                      <a:r>
                        <a:rPr lang="en-US" sz="1100">
                          <a:effectLst/>
                        </a:rPr>
                        <a:t>11</a:t>
                      </a:r>
                    </a:p>
                  </a:txBody>
                  <a:tcPr marL="54490" marR="54490" marT="27245" marB="27245" anchor="ctr">
                    <a:lnL>
                      <a:noFill/>
                    </a:lnL>
                    <a:lnR>
                      <a:noFill/>
                    </a:lnR>
                    <a:lnT>
                      <a:noFill/>
                    </a:lnT>
                    <a:lnB>
                      <a:noFill/>
                    </a:lnB>
                    <a:noFill/>
                  </a:tcPr>
                </a:tc>
                <a:tc>
                  <a:txBody>
                    <a:bodyPr/>
                    <a:lstStyle/>
                    <a:p>
                      <a:pPr algn="r" fontAlgn="ctr">
                        <a:buNone/>
                      </a:pPr>
                      <a:r>
                        <a:rPr lang="en-US" sz="1100">
                          <a:effectLst/>
                        </a:rPr>
                        <a:t>1.712803</a:t>
                      </a:r>
                    </a:p>
                  </a:txBody>
                  <a:tcPr marL="54490" marR="54490" marT="27245" marB="27245" anchor="ctr">
                    <a:lnL>
                      <a:noFill/>
                    </a:lnL>
                    <a:lnR>
                      <a:noFill/>
                    </a:lnR>
                    <a:lnT>
                      <a:noFill/>
                    </a:lnT>
                    <a:lnB>
                      <a:noFill/>
                    </a:lnB>
                    <a:noFill/>
                  </a:tcPr>
                </a:tc>
                <a:tc>
                  <a:txBody>
                    <a:bodyPr/>
                    <a:lstStyle/>
                    <a:p>
                      <a:pPr algn="r" fontAlgn="ctr">
                        <a:buNone/>
                      </a:pPr>
                      <a:r>
                        <a:rPr lang="en-US" sz="1100">
                          <a:effectLst/>
                        </a:rPr>
                        <a:t>URGENT RESTOCK</a:t>
                      </a:r>
                    </a:p>
                  </a:txBody>
                  <a:tcPr marL="54490" marR="54490" marT="27245" marB="27245" anchor="ctr">
                    <a:lnL>
                      <a:noFill/>
                    </a:lnL>
                    <a:lnR>
                      <a:noFill/>
                    </a:lnR>
                    <a:lnT>
                      <a:noFill/>
                    </a:lnT>
                    <a:lnB>
                      <a:noFill/>
                    </a:lnB>
                    <a:noFill/>
                  </a:tcPr>
                </a:tc>
                <a:extLst>
                  <a:ext uri="{0D108BD9-81ED-4DB2-BD59-A6C34878D82A}">
                    <a16:rowId xmlns:a16="http://schemas.microsoft.com/office/drawing/2014/main" val="4087769625"/>
                  </a:ext>
                </a:extLst>
              </a:tr>
              <a:tr h="381433">
                <a:tc>
                  <a:txBody>
                    <a:bodyPr/>
                    <a:lstStyle/>
                    <a:p>
                      <a:pPr algn="r" fontAlgn="ctr">
                        <a:buNone/>
                      </a:pPr>
                      <a:r>
                        <a:rPr lang="en-US" sz="1100" b="1">
                          <a:effectLst/>
                        </a:rPr>
                        <a:t>7</a:t>
                      </a:r>
                    </a:p>
                  </a:txBody>
                  <a:tcPr marL="54490" marR="54490" marT="27245" marB="27245" anchor="ctr">
                    <a:lnL>
                      <a:noFill/>
                    </a:lnL>
                    <a:lnR>
                      <a:noFill/>
                    </a:lnR>
                    <a:lnT>
                      <a:noFill/>
                    </a:lnT>
                    <a:lnB>
                      <a:noFill/>
                    </a:lnB>
                    <a:noFill/>
                  </a:tcPr>
                </a:tc>
                <a:tc>
                  <a:txBody>
                    <a:bodyPr/>
                    <a:lstStyle/>
                    <a:p>
                      <a:pPr algn="r" fontAlgn="ctr">
                        <a:buNone/>
                      </a:pPr>
                      <a:r>
                        <a:rPr lang="en-US" sz="1100">
                          <a:effectLst/>
                        </a:rPr>
                        <a:t>Wristwatch</a:t>
                      </a:r>
                    </a:p>
                  </a:txBody>
                  <a:tcPr marL="54490" marR="54490" marT="27245" marB="27245" anchor="ctr">
                    <a:lnL>
                      <a:noFill/>
                    </a:lnL>
                    <a:lnR>
                      <a:noFill/>
                    </a:lnR>
                    <a:lnT>
                      <a:noFill/>
                    </a:lnT>
                    <a:lnB>
                      <a:noFill/>
                    </a:lnB>
                    <a:noFill/>
                  </a:tcPr>
                </a:tc>
                <a:tc>
                  <a:txBody>
                    <a:bodyPr/>
                    <a:lstStyle/>
                    <a:p>
                      <a:pPr algn="r" fontAlgn="ctr">
                        <a:buNone/>
                      </a:pPr>
                      <a:r>
                        <a:rPr lang="en-US" sz="1100">
                          <a:effectLst/>
                        </a:rPr>
                        <a:t>20</a:t>
                      </a:r>
                    </a:p>
                  </a:txBody>
                  <a:tcPr marL="54490" marR="54490" marT="27245" marB="27245" anchor="ctr">
                    <a:lnL>
                      <a:noFill/>
                    </a:lnL>
                    <a:lnR>
                      <a:noFill/>
                    </a:lnR>
                    <a:lnT>
                      <a:noFill/>
                    </a:lnT>
                    <a:lnB>
                      <a:noFill/>
                    </a:lnB>
                    <a:noFill/>
                  </a:tcPr>
                </a:tc>
                <a:tc>
                  <a:txBody>
                    <a:bodyPr/>
                    <a:lstStyle/>
                    <a:p>
                      <a:pPr algn="r" fontAlgn="ctr">
                        <a:buNone/>
                      </a:pPr>
                      <a:r>
                        <a:rPr lang="en-US" sz="1100">
                          <a:effectLst/>
                        </a:rPr>
                        <a:t>4.000000</a:t>
                      </a:r>
                    </a:p>
                  </a:txBody>
                  <a:tcPr marL="54490" marR="54490" marT="27245" marB="27245" anchor="ctr">
                    <a:lnL>
                      <a:noFill/>
                    </a:lnL>
                    <a:lnR>
                      <a:noFill/>
                    </a:lnR>
                    <a:lnT>
                      <a:noFill/>
                    </a:lnT>
                    <a:lnB>
                      <a:noFill/>
                    </a:lnB>
                    <a:noFill/>
                  </a:tcPr>
                </a:tc>
                <a:tc>
                  <a:txBody>
                    <a:bodyPr/>
                    <a:lstStyle/>
                    <a:p>
                      <a:pPr algn="r" fontAlgn="ctr">
                        <a:buNone/>
                      </a:pPr>
                      <a:r>
                        <a:rPr lang="en-US" sz="1100">
                          <a:effectLst/>
                        </a:rPr>
                        <a:t>URGENT RESTOCK</a:t>
                      </a:r>
                    </a:p>
                  </a:txBody>
                  <a:tcPr marL="54490" marR="54490" marT="27245" marB="27245" anchor="ctr">
                    <a:lnL>
                      <a:noFill/>
                    </a:lnL>
                    <a:lnR>
                      <a:noFill/>
                    </a:lnR>
                    <a:lnT>
                      <a:noFill/>
                    </a:lnT>
                    <a:lnB>
                      <a:noFill/>
                    </a:lnB>
                    <a:noFill/>
                  </a:tcPr>
                </a:tc>
                <a:extLst>
                  <a:ext uri="{0D108BD9-81ED-4DB2-BD59-A6C34878D82A}">
                    <a16:rowId xmlns:a16="http://schemas.microsoft.com/office/drawing/2014/main" val="3263950546"/>
                  </a:ext>
                </a:extLst>
              </a:tr>
              <a:tr h="381433">
                <a:tc>
                  <a:txBody>
                    <a:bodyPr/>
                    <a:lstStyle/>
                    <a:p>
                      <a:pPr algn="r" fontAlgn="ctr">
                        <a:buNone/>
                      </a:pPr>
                      <a:r>
                        <a:rPr lang="en-US" sz="1100" b="1">
                          <a:effectLst/>
                        </a:rPr>
                        <a:t>8</a:t>
                      </a:r>
                    </a:p>
                  </a:txBody>
                  <a:tcPr marL="54490" marR="54490" marT="27245" marB="27245" anchor="ctr">
                    <a:lnL>
                      <a:noFill/>
                    </a:lnL>
                    <a:lnR>
                      <a:noFill/>
                    </a:lnR>
                    <a:lnT>
                      <a:noFill/>
                    </a:lnT>
                    <a:lnB>
                      <a:noFill/>
                    </a:lnB>
                    <a:noFill/>
                  </a:tcPr>
                </a:tc>
                <a:tc>
                  <a:txBody>
                    <a:bodyPr/>
                    <a:lstStyle/>
                    <a:p>
                      <a:pPr algn="r" fontAlgn="ctr">
                        <a:buNone/>
                      </a:pPr>
                      <a:r>
                        <a:rPr lang="en-US" sz="1100">
                          <a:effectLst/>
                        </a:rPr>
                        <a:t>Toothpaste</a:t>
                      </a:r>
                    </a:p>
                  </a:txBody>
                  <a:tcPr marL="54490" marR="54490" marT="27245" marB="27245" anchor="ctr">
                    <a:lnL>
                      <a:noFill/>
                    </a:lnL>
                    <a:lnR>
                      <a:noFill/>
                    </a:lnR>
                    <a:lnT>
                      <a:noFill/>
                    </a:lnT>
                    <a:lnB>
                      <a:noFill/>
                    </a:lnB>
                    <a:noFill/>
                  </a:tcPr>
                </a:tc>
                <a:tc>
                  <a:txBody>
                    <a:bodyPr/>
                    <a:lstStyle/>
                    <a:p>
                      <a:pPr algn="r" fontAlgn="ctr">
                        <a:buNone/>
                      </a:pPr>
                      <a:r>
                        <a:rPr lang="en-US" sz="1100">
                          <a:effectLst/>
                        </a:rPr>
                        <a:t>26</a:t>
                      </a:r>
                    </a:p>
                  </a:txBody>
                  <a:tcPr marL="54490" marR="54490" marT="27245" marB="27245" anchor="ctr">
                    <a:lnL>
                      <a:noFill/>
                    </a:lnL>
                    <a:lnR>
                      <a:noFill/>
                    </a:lnR>
                    <a:lnT>
                      <a:noFill/>
                    </a:lnT>
                    <a:lnB>
                      <a:noFill/>
                    </a:lnB>
                    <a:noFill/>
                  </a:tcPr>
                </a:tc>
                <a:tc>
                  <a:txBody>
                    <a:bodyPr/>
                    <a:lstStyle/>
                    <a:p>
                      <a:pPr algn="r" fontAlgn="ctr">
                        <a:buNone/>
                      </a:pPr>
                      <a:r>
                        <a:rPr lang="en-US" sz="1100">
                          <a:effectLst/>
                        </a:rPr>
                        <a:t>4.379928</a:t>
                      </a:r>
                    </a:p>
                  </a:txBody>
                  <a:tcPr marL="54490" marR="54490" marT="27245" marB="27245" anchor="ctr">
                    <a:lnL>
                      <a:noFill/>
                    </a:lnL>
                    <a:lnR>
                      <a:noFill/>
                    </a:lnR>
                    <a:lnT>
                      <a:noFill/>
                    </a:lnT>
                    <a:lnB>
                      <a:noFill/>
                    </a:lnB>
                    <a:noFill/>
                  </a:tcPr>
                </a:tc>
                <a:tc>
                  <a:txBody>
                    <a:bodyPr/>
                    <a:lstStyle/>
                    <a:p>
                      <a:pPr algn="r" fontAlgn="ctr">
                        <a:buNone/>
                      </a:pPr>
                      <a:r>
                        <a:rPr lang="en-US" sz="1100">
                          <a:effectLst/>
                        </a:rPr>
                        <a:t>URGENT RESTOCK</a:t>
                      </a:r>
                    </a:p>
                  </a:txBody>
                  <a:tcPr marL="54490" marR="54490" marT="27245" marB="27245" anchor="ctr">
                    <a:lnL>
                      <a:noFill/>
                    </a:lnL>
                    <a:lnR>
                      <a:noFill/>
                    </a:lnR>
                    <a:lnT>
                      <a:noFill/>
                    </a:lnT>
                    <a:lnB>
                      <a:noFill/>
                    </a:lnB>
                    <a:noFill/>
                  </a:tcPr>
                </a:tc>
                <a:extLst>
                  <a:ext uri="{0D108BD9-81ED-4DB2-BD59-A6C34878D82A}">
                    <a16:rowId xmlns:a16="http://schemas.microsoft.com/office/drawing/2014/main" val="2875662924"/>
                  </a:ext>
                </a:extLst>
              </a:tr>
              <a:tr h="381433">
                <a:tc>
                  <a:txBody>
                    <a:bodyPr/>
                    <a:lstStyle/>
                    <a:p>
                      <a:pPr algn="r" fontAlgn="ctr">
                        <a:buNone/>
                      </a:pPr>
                      <a:r>
                        <a:rPr lang="en-US" sz="1100" b="1">
                          <a:effectLst/>
                        </a:rPr>
                        <a:t>9</a:t>
                      </a:r>
                    </a:p>
                  </a:txBody>
                  <a:tcPr marL="54490" marR="54490" marT="27245" marB="27245" anchor="ctr">
                    <a:lnL>
                      <a:noFill/>
                    </a:lnL>
                    <a:lnR>
                      <a:noFill/>
                    </a:lnR>
                    <a:lnT>
                      <a:noFill/>
                    </a:lnT>
                    <a:lnB>
                      <a:noFill/>
                    </a:lnB>
                    <a:noFill/>
                  </a:tcPr>
                </a:tc>
                <a:tc>
                  <a:txBody>
                    <a:bodyPr/>
                    <a:lstStyle/>
                    <a:p>
                      <a:pPr algn="r" fontAlgn="ctr">
                        <a:buNone/>
                      </a:pPr>
                      <a:r>
                        <a:rPr lang="en-US" sz="1100">
                          <a:effectLst/>
                        </a:rPr>
                        <a:t>Extension Box</a:t>
                      </a:r>
                    </a:p>
                  </a:txBody>
                  <a:tcPr marL="54490" marR="54490" marT="27245" marB="27245" anchor="ctr">
                    <a:lnL>
                      <a:noFill/>
                    </a:lnL>
                    <a:lnR>
                      <a:noFill/>
                    </a:lnR>
                    <a:lnT>
                      <a:noFill/>
                    </a:lnT>
                    <a:lnB>
                      <a:noFill/>
                    </a:lnB>
                    <a:noFill/>
                  </a:tcPr>
                </a:tc>
                <a:tc>
                  <a:txBody>
                    <a:bodyPr/>
                    <a:lstStyle/>
                    <a:p>
                      <a:pPr algn="r" fontAlgn="ctr">
                        <a:buNone/>
                      </a:pPr>
                      <a:r>
                        <a:rPr lang="en-US" sz="1100">
                          <a:effectLst/>
                        </a:rPr>
                        <a:t>27</a:t>
                      </a:r>
                    </a:p>
                  </a:txBody>
                  <a:tcPr marL="54490" marR="54490" marT="27245" marB="27245" anchor="ctr">
                    <a:lnL>
                      <a:noFill/>
                    </a:lnL>
                    <a:lnR>
                      <a:noFill/>
                    </a:lnR>
                    <a:lnT>
                      <a:noFill/>
                    </a:lnT>
                    <a:lnB>
                      <a:noFill/>
                    </a:lnB>
                    <a:noFill/>
                  </a:tcPr>
                </a:tc>
                <a:tc>
                  <a:txBody>
                    <a:bodyPr/>
                    <a:lstStyle/>
                    <a:p>
                      <a:pPr algn="r" fontAlgn="ctr">
                        <a:buNone/>
                      </a:pPr>
                      <a:r>
                        <a:rPr lang="en-US" sz="1100">
                          <a:effectLst/>
                        </a:rPr>
                        <a:t>5.150289</a:t>
                      </a:r>
                    </a:p>
                  </a:txBody>
                  <a:tcPr marL="54490" marR="54490" marT="27245" marB="27245" anchor="ctr">
                    <a:lnL>
                      <a:noFill/>
                    </a:lnL>
                    <a:lnR>
                      <a:noFill/>
                    </a:lnR>
                    <a:lnT>
                      <a:noFill/>
                    </a:lnT>
                    <a:lnB>
                      <a:noFill/>
                    </a:lnB>
                    <a:noFill/>
                  </a:tcPr>
                </a:tc>
                <a:tc>
                  <a:txBody>
                    <a:bodyPr/>
                    <a:lstStyle/>
                    <a:p>
                      <a:pPr algn="r" fontAlgn="ctr">
                        <a:buNone/>
                      </a:pPr>
                      <a:r>
                        <a:rPr lang="en-US" sz="1100" dirty="0">
                          <a:effectLst/>
                        </a:rPr>
                        <a:t>RESTOCK SOON</a:t>
                      </a:r>
                    </a:p>
                  </a:txBody>
                  <a:tcPr marL="54490" marR="54490" marT="27245" marB="27245" anchor="ctr">
                    <a:lnL>
                      <a:noFill/>
                    </a:lnL>
                    <a:lnR>
                      <a:noFill/>
                    </a:lnR>
                    <a:lnT>
                      <a:noFill/>
                    </a:lnT>
                    <a:lnB>
                      <a:noFill/>
                    </a:lnB>
                    <a:noFill/>
                  </a:tcPr>
                </a:tc>
                <a:extLst>
                  <a:ext uri="{0D108BD9-81ED-4DB2-BD59-A6C34878D82A}">
                    <a16:rowId xmlns:a16="http://schemas.microsoft.com/office/drawing/2014/main" val="1256569589"/>
                  </a:ext>
                </a:extLst>
              </a:tr>
            </a:tbl>
          </a:graphicData>
        </a:graphic>
      </p:graphicFrame>
      <p:sp>
        <p:nvSpPr>
          <p:cNvPr id="8" name="Rectangle 1">
            <a:extLst>
              <a:ext uri="{FF2B5EF4-FFF2-40B4-BE49-F238E27FC236}">
                <a16:creationId xmlns:a16="http://schemas.microsoft.com/office/drawing/2014/main" id="{7B010A27-29D1-BE0E-DB06-043094B15926}"/>
              </a:ext>
            </a:extLst>
          </p:cNvPr>
          <p:cNvSpPr>
            <a:spLocks noChangeArrowheads="1"/>
          </p:cNvSpPr>
          <p:nvPr/>
        </p:nvSpPr>
        <p:spPr bwMode="auto">
          <a:xfrm>
            <a:off x="2911475" y="2006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900" b="0" i="0" u="none" strike="noStrike" cap="none" normalizeH="0" baseline="0">
                <a:ln>
                  <a:noFill/>
                </a:ln>
                <a:solidFill>
                  <a:schemeClr val="tx1"/>
                </a:solidFill>
                <a:effectLst/>
                <a:latin typeface="inherit"/>
              </a:rPr>
            </a:br>
            <a:endParaRPr kumimoji="0" lang="en-US" altLang="en-US" sz="900" b="0" i="0" u="none" strike="noStrike" cap="none" normalizeH="0" baseline="0">
              <a:ln>
                <a:noFill/>
              </a:ln>
              <a:solidFill>
                <a:schemeClr val="tx1"/>
              </a:solidFill>
              <a:effectLst/>
              <a:latin typeface="system-ui"/>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900" b="0" i="0" u="none" strike="noStrike" cap="none" normalizeH="0" baseline="0">
                <a:ln>
                  <a:noFill/>
                </a:ln>
                <a:solidFill>
                  <a:schemeClr val="tx1"/>
                </a:solidFill>
                <a:effectLst/>
                <a:latin typeface="system-ui"/>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48660398-8A14-9E2A-BA3B-DC9518305019}"/>
              </a:ext>
            </a:extLst>
          </p:cNvPr>
          <p:cNvSpPr txBox="1"/>
          <p:nvPr/>
        </p:nvSpPr>
        <p:spPr>
          <a:xfrm>
            <a:off x="7764904" y="1899382"/>
            <a:ext cx="4427096" cy="2031325"/>
          </a:xfrm>
          <a:prstGeom prst="rect">
            <a:avLst/>
          </a:prstGeom>
          <a:noFill/>
        </p:spPr>
        <p:txBody>
          <a:bodyPr wrap="square">
            <a:spAutoFit/>
          </a:bodyPr>
          <a:lstStyle/>
          <a:p>
            <a:r>
              <a:rPr lang="en-US" dirty="0"/>
              <a:t>Products with less than a few days remaining require immediate restocking action.</a:t>
            </a:r>
          </a:p>
          <a:p>
            <a:r>
              <a:rPr lang="en-US" dirty="0"/>
              <a:t>Displays:</a:t>
            </a:r>
          </a:p>
          <a:p>
            <a:pPr marL="285750" indent="-285750">
              <a:buFont typeface="Wingdings" panose="05000000000000000000" pitchFamily="2" charset="2"/>
              <a:buChar char="Ø"/>
            </a:pPr>
            <a:r>
              <a:rPr lang="en-US" dirty="0"/>
              <a:t>Current stock</a:t>
            </a:r>
          </a:p>
          <a:p>
            <a:pPr marL="285750" indent="-285750">
              <a:buFont typeface="Wingdings" panose="05000000000000000000" pitchFamily="2" charset="2"/>
              <a:buChar char="Ø"/>
            </a:pPr>
            <a:r>
              <a:rPr lang="en-US" dirty="0"/>
              <a:t>Days remaining</a:t>
            </a:r>
          </a:p>
          <a:p>
            <a:pPr marL="285750" indent="-285750">
              <a:buFont typeface="Wingdings" panose="05000000000000000000" pitchFamily="2" charset="2"/>
              <a:buChar char="Ø"/>
            </a:pPr>
            <a:r>
              <a:rPr lang="en-US" dirty="0"/>
              <a:t>Smart alerts (Urgent / Soon)</a:t>
            </a:r>
          </a:p>
        </p:txBody>
      </p:sp>
    </p:spTree>
    <p:extLst>
      <p:ext uri="{BB962C8B-B14F-4D97-AF65-F5344CB8AC3E}">
        <p14:creationId xmlns:p14="http://schemas.microsoft.com/office/powerpoint/2010/main" val="897045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57B8D-8AA6-C618-E68C-551A0736F2C7}"/>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Key Insights</a:t>
            </a:r>
            <a:br>
              <a:rPr lang="en-US" b="1"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200E02E-A3E1-3ED3-53FA-B15402F20EBA}"/>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Some products frequently go out of stock </a:t>
            </a:r>
          </a:p>
          <a:p>
            <a:r>
              <a:rPr lang="en-US" dirty="0">
                <a:latin typeface="Arial" panose="020B0604020202020204" pitchFamily="34" charset="0"/>
                <a:cs typeface="Arial" panose="020B0604020202020204" pitchFamily="34" charset="0"/>
              </a:rPr>
              <a:t>Some products are overstocked </a:t>
            </a:r>
          </a:p>
          <a:p>
            <a:r>
              <a:rPr lang="en-US" dirty="0">
                <a:latin typeface="Arial" panose="020B0604020202020204" pitchFamily="34" charset="0"/>
                <a:cs typeface="Arial" panose="020B0604020202020204" pitchFamily="34" charset="0"/>
              </a:rPr>
              <a:t>Sales trends vary across time </a:t>
            </a:r>
          </a:p>
          <a:p>
            <a:endParaRPr lang="en-US" dirty="0"/>
          </a:p>
        </p:txBody>
      </p:sp>
      <p:pic>
        <p:nvPicPr>
          <p:cNvPr id="4" name="Picture 3">
            <a:extLst>
              <a:ext uri="{FF2B5EF4-FFF2-40B4-BE49-F238E27FC236}">
                <a16:creationId xmlns:a16="http://schemas.microsoft.com/office/drawing/2014/main" id="{7FA8F7D7-24BB-C4D1-D64C-7A0C15E38CF2}"/>
              </a:ext>
            </a:extLst>
          </p:cNvPr>
          <p:cNvPicPr>
            <a:picLocks noChangeAspect="1"/>
          </p:cNvPicPr>
          <p:nvPr/>
        </p:nvPicPr>
        <p:blipFill>
          <a:blip r:embed="rId2">
            <a:duotone>
              <a:schemeClr val="bg2">
                <a:shade val="45000"/>
                <a:satMod val="135000"/>
              </a:schemeClr>
              <a:prstClr val="white"/>
            </a:duotone>
            <a:alphaModFix amt="35000"/>
            <a:extLst>
              <a:ext uri="{28A0092B-C50C-407E-A947-70E740481C1C}">
                <a14:useLocalDpi xmlns:a14="http://schemas.microsoft.com/office/drawing/2010/main" val="0"/>
              </a:ext>
            </a:extLst>
          </a:blip>
          <a:stretch>
            <a:fillRect/>
          </a:stretch>
        </p:blipFill>
        <p:spPr>
          <a:xfrm>
            <a:off x="-1" y="1"/>
            <a:ext cx="12191999" cy="6676570"/>
          </a:xfrm>
          <a:prstGeom prst="rect">
            <a:avLst/>
          </a:prstGeom>
        </p:spPr>
      </p:pic>
    </p:spTree>
    <p:extLst>
      <p:ext uri="{BB962C8B-B14F-4D97-AF65-F5344CB8AC3E}">
        <p14:creationId xmlns:p14="http://schemas.microsoft.com/office/powerpoint/2010/main" val="3607384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DC7CB-76E2-EF30-EC88-828D9E5CA429}"/>
              </a:ext>
            </a:extLst>
          </p:cNvPr>
          <p:cNvSpPr>
            <a:spLocks noGrp="1"/>
          </p:cNvSpPr>
          <p:nvPr>
            <p:ph type="title"/>
          </p:nvPr>
        </p:nvSpPr>
        <p:spPr/>
        <p:txBody>
          <a:bodyPr/>
          <a:lstStyle/>
          <a:p>
            <a:r>
              <a:rPr lang="en-US" dirty="0"/>
              <a:t>CONCLUSION</a:t>
            </a:r>
            <a:br>
              <a:rPr lang="en-US" dirty="0"/>
            </a:br>
            <a:endParaRPr lang="en-US" dirty="0"/>
          </a:p>
        </p:txBody>
      </p:sp>
      <p:sp>
        <p:nvSpPr>
          <p:cNvPr id="5" name="Rectangle 2">
            <a:extLst>
              <a:ext uri="{FF2B5EF4-FFF2-40B4-BE49-F238E27FC236}">
                <a16:creationId xmlns:a16="http://schemas.microsoft.com/office/drawing/2014/main" id="{3711A3FA-2B72-DEFC-8690-2D6B6AB58173}"/>
              </a:ext>
            </a:extLst>
          </p:cNvPr>
          <p:cNvSpPr>
            <a:spLocks noGrp="1" noChangeArrowheads="1"/>
          </p:cNvSpPr>
          <p:nvPr>
            <p:ph idx="1"/>
          </p:nvPr>
        </p:nvSpPr>
        <p:spPr bwMode="auto">
          <a:xfrm>
            <a:off x="1451579" y="1977321"/>
            <a:ext cx="3868367"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System improves decision making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Reduces stock issues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Increases efficiency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Supports smart retail management </a:t>
            </a:r>
          </a:p>
        </p:txBody>
      </p:sp>
      <p:pic>
        <p:nvPicPr>
          <p:cNvPr id="4" name="Picture 3">
            <a:extLst>
              <a:ext uri="{FF2B5EF4-FFF2-40B4-BE49-F238E27FC236}">
                <a16:creationId xmlns:a16="http://schemas.microsoft.com/office/drawing/2014/main" id="{11E71E40-B84B-33A1-1924-B49069566866}"/>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tretch>
            <a:fillRect/>
          </a:stretch>
        </p:blipFill>
        <p:spPr>
          <a:xfrm>
            <a:off x="5258026" y="1654629"/>
            <a:ext cx="6099402" cy="3802743"/>
          </a:xfrm>
          <a:prstGeom prst="rect">
            <a:avLst/>
          </a:prstGeom>
        </p:spPr>
      </p:pic>
    </p:spTree>
    <p:extLst>
      <p:ext uri="{BB962C8B-B14F-4D97-AF65-F5344CB8AC3E}">
        <p14:creationId xmlns:p14="http://schemas.microsoft.com/office/powerpoint/2010/main" val="2736797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6F846-BF5B-2F32-B0F8-7BF6417A212E}"/>
              </a:ext>
            </a:extLst>
          </p:cNvPr>
          <p:cNvSpPr>
            <a:spLocks noGrp="1"/>
          </p:cNvSpPr>
          <p:nvPr>
            <p:ph type="title"/>
          </p:nvPr>
        </p:nvSpPr>
        <p:spPr/>
        <p:txBody>
          <a:bodyPr/>
          <a:lstStyle/>
          <a:p>
            <a:r>
              <a:rPr lang="en-US" b="1" dirty="0"/>
              <a:t>Recommendations</a:t>
            </a:r>
            <a:br>
              <a:rPr lang="en-US" b="1" dirty="0"/>
            </a:br>
            <a:endParaRPr lang="en-US" dirty="0"/>
          </a:p>
        </p:txBody>
      </p:sp>
      <p:sp>
        <p:nvSpPr>
          <p:cNvPr id="3" name="Content Placeholder 2">
            <a:extLst>
              <a:ext uri="{FF2B5EF4-FFF2-40B4-BE49-F238E27FC236}">
                <a16:creationId xmlns:a16="http://schemas.microsoft.com/office/drawing/2014/main" id="{20382B26-3BEB-E881-FC63-1AF4B478D0BB}"/>
              </a:ext>
            </a:extLst>
          </p:cNvPr>
          <p:cNvSpPr>
            <a:spLocks noGrp="1"/>
          </p:cNvSpPr>
          <p:nvPr>
            <p:ph idx="1"/>
          </p:nvPr>
        </p:nvSpPr>
        <p:spPr/>
        <p:txBody>
          <a:bodyPr/>
          <a:lstStyle/>
          <a:p>
            <a:r>
              <a:rPr lang="en-US" dirty="0"/>
              <a:t>Reduce purchase quantity for overstocked products</a:t>
            </a:r>
          </a:p>
          <a:p>
            <a:r>
              <a:rPr lang="en-US" dirty="0"/>
              <a:t>Reorder high-demand products earlier</a:t>
            </a:r>
          </a:p>
          <a:p>
            <a:r>
              <a:rPr lang="en-US" dirty="0"/>
              <a:t>Promote low-selling products</a:t>
            </a:r>
          </a:p>
          <a:p>
            <a:r>
              <a:rPr lang="en-US" dirty="0"/>
              <a:t>Monitor fast-moving </a:t>
            </a:r>
            <a:r>
              <a:rPr lang="en-US" dirty="0" err="1"/>
              <a:t>skus</a:t>
            </a:r>
            <a:r>
              <a:rPr lang="en-US" dirty="0"/>
              <a:t> weekly</a:t>
            </a:r>
          </a:p>
          <a:p>
            <a:endParaRPr lang="en-US" dirty="0"/>
          </a:p>
        </p:txBody>
      </p:sp>
      <p:pic>
        <p:nvPicPr>
          <p:cNvPr id="5" name="Picture 4">
            <a:extLst>
              <a:ext uri="{FF2B5EF4-FFF2-40B4-BE49-F238E27FC236}">
                <a16:creationId xmlns:a16="http://schemas.microsoft.com/office/drawing/2014/main" id="{E7159BAA-5E74-167D-A8BE-87EC0C3F4FD9}"/>
              </a:ext>
            </a:extLst>
          </p:cNvPr>
          <p:cNvPicPr>
            <a:picLocks noChangeAspect="1"/>
          </p:cNvPicPr>
          <p:nvPr/>
        </p:nvPicPr>
        <p:blipFill>
          <a:blip r:embed="rId2">
            <a:duotone>
              <a:prstClr val="black"/>
              <a:srgbClr val="D9C3A5">
                <a:tint val="50000"/>
                <a:satMod val="180000"/>
              </a:srgbClr>
            </a:duotone>
            <a:alphaModFix amt="20000"/>
            <a:extLst>
              <a:ext uri="{BEBA8EAE-BF5A-486C-A8C5-ECC9F3942E4B}">
                <a14:imgProps xmlns:a14="http://schemas.microsoft.com/office/drawing/2010/main">
                  <a14:imgLayer r:embed="rId3">
                    <a14:imgEffect>
                      <a14:colorTemperature colorTemp="112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8326437" y="1715887"/>
            <a:ext cx="3335792" cy="3426225"/>
          </a:xfrm>
          <a:prstGeom prst="rect">
            <a:avLst/>
          </a:prstGeom>
        </p:spPr>
      </p:pic>
    </p:spTree>
    <p:extLst>
      <p:ext uri="{BB962C8B-B14F-4D97-AF65-F5344CB8AC3E}">
        <p14:creationId xmlns:p14="http://schemas.microsoft.com/office/powerpoint/2010/main" val="35800346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CA307-846F-4FCE-EEEF-D737B59825CA}"/>
              </a:ext>
            </a:extLst>
          </p:cNvPr>
          <p:cNvSpPr>
            <a:spLocks noGrp="1"/>
          </p:cNvSpPr>
          <p:nvPr>
            <p:ph type="title"/>
          </p:nvPr>
        </p:nvSpPr>
        <p:spPr/>
        <p:txBody>
          <a:bodyPr/>
          <a:lstStyle/>
          <a:p>
            <a:r>
              <a:rPr lang="en-US" dirty="0"/>
              <a:t>FUTURE IMPROVEMENTS</a:t>
            </a:r>
          </a:p>
        </p:txBody>
      </p:sp>
      <p:sp>
        <p:nvSpPr>
          <p:cNvPr id="3" name="Content Placeholder 2">
            <a:extLst>
              <a:ext uri="{FF2B5EF4-FFF2-40B4-BE49-F238E27FC236}">
                <a16:creationId xmlns:a16="http://schemas.microsoft.com/office/drawing/2014/main" id="{95B98460-CBEB-B2C6-837E-BC18913372C2}"/>
              </a:ext>
            </a:extLst>
          </p:cNvPr>
          <p:cNvSpPr>
            <a:spLocks noGrp="1"/>
          </p:cNvSpPr>
          <p:nvPr>
            <p:ph idx="1"/>
          </p:nvPr>
        </p:nvSpPr>
        <p:spPr/>
        <p:txBody>
          <a:bodyPr/>
          <a:lstStyle/>
          <a:p>
            <a:r>
              <a:rPr lang="en-US" dirty="0"/>
              <a:t>Machine Learning prediction </a:t>
            </a:r>
          </a:p>
          <a:p>
            <a:r>
              <a:rPr lang="en-US" dirty="0"/>
              <a:t>Automated ordering system </a:t>
            </a:r>
          </a:p>
          <a:p>
            <a:r>
              <a:rPr lang="en-US" dirty="0"/>
              <a:t>Real-time dashboard </a:t>
            </a:r>
          </a:p>
          <a:p>
            <a:r>
              <a:rPr lang="en-US" dirty="0"/>
              <a:t>Alert System</a:t>
            </a:r>
          </a:p>
          <a:p>
            <a:r>
              <a:rPr lang="en-US" dirty="0"/>
              <a:t>SMS alerts </a:t>
            </a:r>
          </a:p>
          <a:p>
            <a:r>
              <a:rPr lang="en-US" dirty="0"/>
              <a:t>Email notifications </a:t>
            </a:r>
          </a:p>
          <a:p>
            <a:endParaRPr lang="en-US" dirty="0"/>
          </a:p>
          <a:p>
            <a:endParaRPr lang="en-US" dirty="0"/>
          </a:p>
        </p:txBody>
      </p:sp>
      <p:pic>
        <p:nvPicPr>
          <p:cNvPr id="5" name="Picture 4">
            <a:extLst>
              <a:ext uri="{FF2B5EF4-FFF2-40B4-BE49-F238E27FC236}">
                <a16:creationId xmlns:a16="http://schemas.microsoft.com/office/drawing/2014/main" id="{1BF3C871-A1A7-4A88-6D05-C4AAD6873E5C}"/>
              </a:ext>
            </a:extLst>
          </p:cNvPr>
          <p:cNvPicPr>
            <a:picLocks noChangeAspect="1"/>
          </p:cNvPicPr>
          <p:nvPr/>
        </p:nvPicPr>
        <p:blipFill>
          <a:blip r:embed="rId2">
            <a:duotone>
              <a:prstClr val="black"/>
              <a:srgbClr val="D9C3A5">
                <a:tint val="50000"/>
                <a:satMod val="180000"/>
              </a:srgbClr>
            </a:duotone>
            <a:alphaModFix amt="20000"/>
            <a:extLst>
              <a:ext uri="{BEBA8EAE-BF5A-486C-A8C5-ECC9F3942E4B}">
                <a14:imgProps xmlns:a14="http://schemas.microsoft.com/office/drawing/2010/main">
                  <a14:imgLayer r:embed="rId3">
                    <a14:imgEffect>
                      <a14:colorTemperature colorTemp="8800"/>
                    </a14:imgEffect>
                  </a14:imgLayer>
                </a14:imgProps>
              </a:ext>
              <a:ext uri="{28A0092B-C50C-407E-A947-70E740481C1C}">
                <a14:useLocalDpi xmlns:a14="http://schemas.microsoft.com/office/drawing/2010/main" val="0"/>
              </a:ext>
            </a:extLst>
          </a:blip>
          <a:stretch>
            <a:fillRect/>
          </a:stretch>
        </p:blipFill>
        <p:spPr>
          <a:xfrm>
            <a:off x="6441847" y="1853248"/>
            <a:ext cx="4451123" cy="4017781"/>
          </a:xfrm>
          <a:prstGeom prst="rect">
            <a:avLst/>
          </a:prstGeom>
        </p:spPr>
      </p:pic>
    </p:spTree>
    <p:extLst>
      <p:ext uri="{BB962C8B-B14F-4D97-AF65-F5344CB8AC3E}">
        <p14:creationId xmlns:p14="http://schemas.microsoft.com/office/powerpoint/2010/main" val="3487071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B861E-8DAC-CDDC-4FE0-4996671758B0}"/>
              </a:ext>
            </a:extLst>
          </p:cNvPr>
          <p:cNvSpPr>
            <a:spLocks noGrp="1"/>
          </p:cNvSpPr>
          <p:nvPr>
            <p:ph type="ctrTitle"/>
          </p:nvPr>
        </p:nvSpPr>
        <p:spPr/>
        <p:txBody>
          <a:bodyPr/>
          <a:lstStyle/>
          <a:p>
            <a:r>
              <a:rPr lang="en-US" sz="4800" dirty="0"/>
              <a:t>Thank you for listening</a:t>
            </a:r>
            <a:r>
              <a:rPr lang="en-US" dirty="0"/>
              <a:t>!!!</a:t>
            </a:r>
            <a:br>
              <a:rPr lang="en-US" dirty="0"/>
            </a:br>
            <a:endParaRPr lang="en-US" dirty="0"/>
          </a:p>
        </p:txBody>
      </p:sp>
    </p:spTree>
    <p:extLst>
      <p:ext uri="{BB962C8B-B14F-4D97-AF65-F5344CB8AC3E}">
        <p14:creationId xmlns:p14="http://schemas.microsoft.com/office/powerpoint/2010/main" val="15924738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flection">
      <a:fillStyleLst>
        <a:solidFill>
          <a:schemeClr val="phClr"/>
        </a:solidFill>
        <a:gradFill rotWithShape="1">
          <a:gsLst>
            <a:gs pos="0">
              <a:schemeClr val="phClr">
                <a:tint val="50000"/>
                <a:alpha val="100000"/>
                <a:satMod val="140000"/>
                <a:lumMod val="105000"/>
              </a:schemeClr>
            </a:gs>
            <a:gs pos="41000">
              <a:schemeClr val="phClr">
                <a:tint val="57000"/>
                <a:satMod val="160000"/>
                <a:lumMod val="99000"/>
              </a:schemeClr>
            </a:gs>
            <a:gs pos="100000">
              <a:schemeClr val="phClr">
                <a:tint val="80000"/>
                <a:satMod val="180000"/>
                <a:lumMod val="104000"/>
              </a:schemeClr>
            </a:gs>
          </a:gsLst>
          <a:lin ang="5400000" scaled="1"/>
        </a:gradFill>
        <a:gradFill rotWithShape="1">
          <a:gsLst>
            <a:gs pos="0">
              <a:schemeClr val="phClr">
                <a:tint val="97000"/>
                <a:satMod val="115000"/>
                <a:lumMod val="114000"/>
              </a:schemeClr>
            </a:gs>
            <a:gs pos="60000">
              <a:schemeClr val="phClr">
                <a:tint val="100000"/>
                <a:shade val="96000"/>
                <a:satMod val="100000"/>
                <a:lumMod val="108000"/>
              </a:schemeClr>
            </a:gs>
            <a:gs pos="100000">
              <a:schemeClr val="phClr">
                <a:shade val="91000"/>
                <a:sat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38100" dist="25400" dir="5400000" rotWithShape="0">
              <a:srgbClr val="000000">
                <a:alpha val="28000"/>
              </a:srgbClr>
            </a:outerShdw>
          </a:effectLst>
        </a:effectStyle>
        <a:effectStyle>
          <a:effectLst>
            <a:outerShdw blurRad="50800" dist="31750" dir="5400000" sy="98000" rotWithShape="0">
              <a:srgbClr val="000000">
                <a:alpha val="47000"/>
              </a:srgbClr>
            </a:outerShdw>
          </a:effectLst>
          <a:scene3d>
            <a:camera prst="orthographicFront">
              <a:rot lat="0" lon="0" rev="0"/>
            </a:camera>
            <a:lightRig rig="twoPt" dir="t">
              <a:rot lat="0" lon="0" rev="4800000"/>
            </a:lightRig>
          </a:scene3d>
          <a:sp3d prstMaterial="matte">
            <a:bevelT w="25400" h="44450"/>
          </a:sp3d>
        </a:effectStyle>
        <a:effectStyle>
          <a:effectLst>
            <a:reflection blurRad="25400" stA="32000" endPos="28000" dist="8889" dir="5400000" sy="-100000" rotWithShape="0"/>
          </a:effectLst>
          <a:scene3d>
            <a:camera prst="orthographicFront">
              <a:rot lat="0" lon="0" rev="0"/>
            </a:camera>
            <a:lightRig rig="threePt" dir="t">
              <a:rot lat="0" lon="0" rev="4800000"/>
            </a:lightRig>
          </a:scene3d>
          <a:sp3d>
            <a:bevelT w="50800" h="2540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3254</TotalTime>
  <Words>577</Words>
  <Application>Microsoft Office PowerPoint</Application>
  <PresentationFormat>Widescreen</PresentationFormat>
  <Paragraphs>173</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Aptos</vt:lpstr>
      <vt:lpstr>Arial</vt:lpstr>
      <vt:lpstr>Century Gothic</vt:lpstr>
      <vt:lpstr>inherit</vt:lpstr>
      <vt:lpstr>system-ui</vt:lpstr>
      <vt:lpstr>Wingdings</vt:lpstr>
      <vt:lpstr>Wingdings 3</vt:lpstr>
      <vt:lpstr>Ion</vt:lpstr>
      <vt:lpstr>Store Sales Smart Retail Intelligence System Inventory &amp; Sales Analytics Project </vt:lpstr>
      <vt:lpstr>Project overview</vt:lpstr>
      <vt:lpstr>Problem statement</vt:lpstr>
      <vt:lpstr>Project Objective</vt:lpstr>
      <vt:lpstr>Tools Used </vt:lpstr>
      <vt:lpstr>Dataset Description </vt:lpstr>
      <vt:lpstr>Inventory analysis</vt:lpstr>
      <vt:lpstr>Data Cleaning </vt:lpstr>
      <vt:lpstr>KPI Summary </vt:lpstr>
      <vt:lpstr>Inventory Status </vt:lpstr>
      <vt:lpstr>Sales analysis</vt:lpstr>
      <vt:lpstr>Best Sellers </vt:lpstr>
      <vt:lpstr> Low Stocks  </vt:lpstr>
      <vt:lpstr>Overstocked</vt:lpstr>
      <vt:lpstr>Daily Sales Trend </vt:lpstr>
      <vt:lpstr>Monthly Sales Trend </vt:lpstr>
      <vt:lpstr>Forecast</vt:lpstr>
      <vt:lpstr>Smart Alert (Days remaining) </vt:lpstr>
      <vt:lpstr>Key Insights </vt:lpstr>
      <vt:lpstr>CONCLUSION </vt:lpstr>
      <vt:lpstr>Recommendations </vt:lpstr>
      <vt:lpstr>FUTURE IMPROVEMENTS</vt:lpstr>
      <vt:lpstr>Thank you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Abdulmumin Salis</dc:creator>
  <cp:lastModifiedBy>Abdulmumin Salis</cp:lastModifiedBy>
  <cp:revision>16</cp:revision>
  <dcterms:created xsi:type="dcterms:W3CDTF">2026-03-30T18:24:44Z</dcterms:created>
  <dcterms:modified xsi:type="dcterms:W3CDTF">2026-05-01T14:42:07Z</dcterms:modified>
</cp:coreProperties>
</file>